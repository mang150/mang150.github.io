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embeddedFontLst>
    <p:embeddedFont>
      <p:font typeface="Roboto"/>
      <p:regular r:id="rId18"/>
      <p:bold r:id="rId19"/>
      <p:italic r:id="rId20"/>
      <p:boldItalic r:id="rId21"/>
    </p:embeddedFont>
    <p:embeddedFont>
      <p:font typeface="Lato"/>
      <p:regular r:id="rId22"/>
      <p:bold r:id="rId23"/>
      <p:italic r:id="rId24"/>
      <p:boldItalic r:id="rId25"/>
    </p:embeddedFont>
    <p:embeddedFont>
      <p:font typeface="Poppins"/>
      <p:regular r:id="rId26"/>
      <p:bold r:id="rId27"/>
      <p:italic r:id="rId28"/>
      <p:boldItalic r:id="rId29"/>
    </p:embeddedFont>
    <p:embeddedFont>
      <p:font typeface="Google Sans"/>
      <p:regular r:id="rId30"/>
      <p:bold r:id="rId31"/>
      <p:italic r:id="rId32"/>
      <p:boldItalic r:id="rId33"/>
    </p:embeddedFont>
    <p:embeddedFont>
      <p:font typeface="Merriweather"/>
      <p:regular r:id="rId34"/>
      <p:bold r:id="rId35"/>
      <p:italic r:id="rId36"/>
      <p:boldItalic r:id="rId37"/>
    </p:embeddedFont>
    <p:embeddedFont>
      <p:font typeface="Open Sa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italic.fntdata"/><Relationship Id="rId20" Type="http://schemas.openxmlformats.org/officeDocument/2006/relationships/font" Target="fonts/Roboto-italic.fntdata"/><Relationship Id="rId41" Type="http://schemas.openxmlformats.org/officeDocument/2006/relationships/font" Target="fonts/OpenSans-boldItalic.fntdata"/><Relationship Id="rId22" Type="http://schemas.openxmlformats.org/officeDocument/2006/relationships/font" Target="fonts/Lato-regular.fntdata"/><Relationship Id="rId21" Type="http://schemas.openxmlformats.org/officeDocument/2006/relationships/font" Target="fonts/Roboto-boldItalic.fntdata"/><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regular.fntdata"/><Relationship Id="rId25" Type="http://schemas.openxmlformats.org/officeDocument/2006/relationships/font" Target="fonts/Lato-boldItalic.fntdata"/><Relationship Id="rId28" Type="http://schemas.openxmlformats.org/officeDocument/2006/relationships/font" Target="fonts/Poppins-italic.fntdata"/><Relationship Id="rId27" Type="http://schemas.openxmlformats.org/officeDocument/2006/relationships/font" Target="fonts/Poppins-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GoogleSans-bold.fntdata"/><Relationship Id="rId30" Type="http://schemas.openxmlformats.org/officeDocument/2006/relationships/font" Target="fonts/GoogleSans-regular.fntdata"/><Relationship Id="rId11" Type="http://schemas.openxmlformats.org/officeDocument/2006/relationships/slide" Target="slides/slide6.xml"/><Relationship Id="rId33" Type="http://schemas.openxmlformats.org/officeDocument/2006/relationships/font" Target="fonts/GoogleSans-boldItalic.fntdata"/><Relationship Id="rId10" Type="http://schemas.openxmlformats.org/officeDocument/2006/relationships/slide" Target="slides/slide5.xml"/><Relationship Id="rId32" Type="http://schemas.openxmlformats.org/officeDocument/2006/relationships/font" Target="fonts/GoogleSans-italic.fntdata"/><Relationship Id="rId13" Type="http://schemas.openxmlformats.org/officeDocument/2006/relationships/slide" Target="slides/slide8.xml"/><Relationship Id="rId35" Type="http://schemas.openxmlformats.org/officeDocument/2006/relationships/font" Target="fonts/Merriweather-bold.fntdata"/><Relationship Id="rId12" Type="http://schemas.openxmlformats.org/officeDocument/2006/relationships/slide" Target="slides/slide7.xml"/><Relationship Id="rId34" Type="http://schemas.openxmlformats.org/officeDocument/2006/relationships/font" Target="fonts/Merriweather-regular.fntdata"/><Relationship Id="rId15" Type="http://schemas.openxmlformats.org/officeDocument/2006/relationships/slide" Target="slides/slide10.xml"/><Relationship Id="rId37" Type="http://schemas.openxmlformats.org/officeDocument/2006/relationships/font" Target="fonts/Merriweather-boldItalic.fntdata"/><Relationship Id="rId14" Type="http://schemas.openxmlformats.org/officeDocument/2006/relationships/slide" Target="slides/slide9.xml"/><Relationship Id="rId36" Type="http://schemas.openxmlformats.org/officeDocument/2006/relationships/font" Target="fonts/Merriweather-italic.fntdata"/><Relationship Id="rId17" Type="http://schemas.openxmlformats.org/officeDocument/2006/relationships/slide" Target="slides/slide12.xml"/><Relationship Id="rId39" Type="http://schemas.openxmlformats.org/officeDocument/2006/relationships/font" Target="fonts/OpenSans-bold.fntdata"/><Relationship Id="rId16" Type="http://schemas.openxmlformats.org/officeDocument/2006/relationships/slide" Target="slides/slide11.xml"/><Relationship Id="rId38" Type="http://schemas.openxmlformats.org/officeDocument/2006/relationships/font" Target="fonts/OpenSans-regular.fntdata"/><Relationship Id="rId19" Type="http://schemas.openxmlformats.org/officeDocument/2006/relationships/font" Target="fonts/Roboto-bold.fntdata"/><Relationship Id="rId1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This module introduces the Profit Pillars—Conversion Rate (CR), Average Order Value (AOV), and Customer Lifetime Value (CLV). These are the core "money metrics" that tell us whether a business is actually making money or simply generating activity. Understanding these metrics helps merchants separate meaningful data from noise. This course will provide a deeper understanding of these metrics and how to use them to transform raw data into actual money for a business. Ultimately, using these metrics helps businesses make smarter, more profitable decisions.</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p>
        </p:txBody>
      </p:sp>
      <p:sp>
        <p:nvSpPr>
          <p:cNvPr id="87" name="Google Shape;8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b="1" lang="en-US">
                <a:solidFill>
                  <a:schemeClr val="dk1"/>
                </a:solidFill>
              </a:rPr>
              <a:t>Google Gemini.</a:t>
            </a:r>
            <a:r>
              <a:rPr lang="en-US">
                <a:solidFill>
                  <a:schemeClr val="dk1"/>
                </a:solidFill>
              </a:rPr>
              <a:t> (2026). </a:t>
            </a:r>
            <a:r>
              <a:rPr i="1" lang="en-US">
                <a:solidFill>
                  <a:schemeClr val="dk1"/>
                </a:solidFill>
              </a:rPr>
              <a:t>Illustration of a merchant overwhelmed by data and information overload</a:t>
            </a:r>
            <a:r>
              <a:rPr lang="en-US">
                <a:solidFill>
                  <a:schemeClr val="dk1"/>
                </a:solidFill>
              </a:rPr>
              <a:t> [AI-generated image].</a:t>
            </a:r>
            <a:endParaRPr u="sng">
              <a:solidFill>
                <a:schemeClr val="hlink"/>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US" sz="1200">
                <a:solidFill>
                  <a:schemeClr val="dk1"/>
                </a:solidFill>
                <a:latin typeface="Calibri"/>
                <a:ea typeface="Calibri"/>
                <a:cs typeface="Calibri"/>
                <a:sym typeface="Calibri"/>
              </a:rPr>
              <a:t>Merchants often feel overwhelmed by the sheer amount of data available in dashboards, charts, and Shopify’s 3D globe. This "Data to Action" gap exists because too much data can create a lack of understanding. Thus, failing to understand data can lead to mistakes that cause severe sales losses. The Profit Pillars simplify everything by cutting through the noise and focusing only on the metrics that directly impact revenue. When merchants know exactly which metric is causing a problem, they know exactly what action to take.</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108" name="Google Shape;10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rPr lang="en-US" sz="1200"/>
              <a:t>Citations: </a:t>
            </a:r>
            <a:endParaRPr/>
          </a:p>
          <a:p>
            <a:pPr indent="0" lvl="0" marL="0" marR="0" rtl="0" algn="l">
              <a:lnSpc>
                <a:spcPct val="100000"/>
              </a:lnSpc>
              <a:spcBef>
                <a:spcPts val="0"/>
              </a:spcBef>
              <a:spcAft>
                <a:spcPts val="0"/>
              </a:spcAft>
              <a:buClr>
                <a:schemeClr val="dk1"/>
              </a:buClr>
              <a:buSzPts val="1200"/>
              <a:buFont typeface="Calibri"/>
              <a:buNone/>
            </a:pPr>
            <a:r>
              <a:rPr i="1" lang="en-US" sz="1200">
                <a:solidFill>
                  <a:schemeClr val="dk1"/>
                </a:solidFill>
              </a:rPr>
              <a:t>Napkin AI. (2026). Conversion rate bar chart [AI-generated image]. </a:t>
            </a:r>
            <a:endParaRPr>
              <a:solidFill>
                <a:schemeClr val="dk1"/>
              </a:solidFill>
            </a:endParaRPr>
          </a:p>
          <a:p>
            <a:pPr indent="0" lvl="0" marL="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First, Conversion Rate. It is the measure of how well a business turns a website visitor into a paying customer. To calculate it, take your Total Conversions—the number of visitors who became customers—and divide that by the Total Visits to your website during that same period. This is the primary way we measure how effective your store actually is at selling.</a:t>
            </a:r>
            <a:endParaRPr/>
          </a:p>
          <a:p>
            <a:pPr indent="0" lvl="0" marL="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p>
        </p:txBody>
      </p:sp>
      <p:sp>
        <p:nvSpPr>
          <p:cNvPr id="123" name="Google Shape;12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CR is one of the most powerful levers for generating revenue, often having a bigger impact than simply increasing traffic. It directly reflects how effectively your website's design, messaging, and user experience (UX) align with your audience's needs. Conversion rate is often called the “friction finder”.  If it’s low, it usually means your design is too complex or your customers are confused. When it's high, it means you've built a bridge, not a wall. Boosting this is the fastest way to increase revenue without needing a single extra visitor."</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p>
        </p:txBody>
      </p:sp>
      <p:sp>
        <p:nvSpPr>
          <p:cNvPr id="144" name="Google Shape;14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US"/>
              <a:t>Citations: </a:t>
            </a:r>
            <a:endParaRPr/>
          </a:p>
          <a:p>
            <a:pPr indent="0" lvl="0" marL="381000" marR="381000" rtl="0" algn="l">
              <a:lnSpc>
                <a:spcPct val="115000"/>
              </a:lnSpc>
              <a:spcBef>
                <a:spcPts val="1200"/>
              </a:spcBef>
              <a:spcAft>
                <a:spcPts val="0"/>
              </a:spcAft>
              <a:buClr>
                <a:schemeClr val="dk1"/>
              </a:buClr>
              <a:buSzPts val="1100"/>
              <a:buFont typeface="Arial"/>
              <a:buNone/>
            </a:pPr>
            <a:r>
              <a:rPr lang="en-US">
                <a:solidFill>
                  <a:schemeClr val="dk1"/>
                </a:solidFill>
                <a:latin typeface="Lato"/>
                <a:ea typeface="Lato"/>
                <a:cs typeface="Lato"/>
                <a:sym typeface="Lato"/>
              </a:rPr>
              <a:t>Google. (2026). </a:t>
            </a:r>
            <a:r>
              <a:rPr i="1" lang="en-US">
                <a:solidFill>
                  <a:schemeClr val="dk1"/>
                </a:solidFill>
                <a:latin typeface="Lato"/>
                <a:ea typeface="Lato"/>
                <a:cs typeface="Lato"/>
                <a:sym typeface="Lato"/>
              </a:rPr>
              <a:t>Basket booster metric visualization</a:t>
            </a:r>
            <a:r>
              <a:rPr lang="en-US">
                <a:solidFill>
                  <a:schemeClr val="dk1"/>
                </a:solidFill>
                <a:latin typeface="Lato"/>
                <a:ea typeface="Lato"/>
                <a:cs typeface="Lato"/>
                <a:sym typeface="Lato"/>
              </a:rPr>
              <a:t> [AI-generated image].</a:t>
            </a:r>
            <a:r>
              <a:rPr lang="en-US">
                <a:solidFill>
                  <a:schemeClr val="dk1"/>
                </a:solidFill>
                <a:latin typeface="Lato"/>
                <a:ea typeface="Lato"/>
                <a:cs typeface="Lato"/>
                <a:sym typeface="Lato"/>
              </a:rPr>
              <a:t> Gemini 3 Flash.</a:t>
            </a:r>
            <a:endParaRPr/>
          </a:p>
          <a:p>
            <a:pPr indent="0" lvl="0" marL="0" marR="0" rtl="0" algn="l">
              <a:lnSpc>
                <a:spcPct val="100000"/>
              </a:lnSpc>
              <a:spcBef>
                <a:spcPts val="1200"/>
              </a:spcBef>
              <a:spcAft>
                <a:spcPts val="0"/>
              </a:spcAft>
              <a:buClr>
                <a:srgbClr val="000000"/>
              </a:buClr>
              <a:buSzPts val="1100"/>
              <a:buFont typeface="Arial"/>
              <a:buNone/>
            </a:pPr>
            <a:r>
              <a:rPr lang="en-US"/>
              <a:t>The second pillar is Average Order Value, or AOV. This measures the average amount a customer spends per order. Your pricing, the products you offer, and how you bundle them together all determine your AOV. It is a key metric because it helps you get the most out of your existing customer</a:t>
            </a:r>
            <a:endParaRPr/>
          </a:p>
        </p:txBody>
      </p:sp>
      <p:sp>
        <p:nvSpPr>
          <p:cNvPr id="160" name="Google Shape;16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US">
                <a:solidFill>
                  <a:schemeClr val="dk1"/>
                </a:solidFill>
                <a:latin typeface="Google Sans"/>
                <a:ea typeface="Google Sans"/>
                <a:cs typeface="Google Sans"/>
                <a:sym typeface="Google Sans"/>
              </a:rPr>
              <a:t>Citations: </a:t>
            </a:r>
            <a:endParaRPr>
              <a:solidFill>
                <a:schemeClr val="dk1"/>
              </a:solidFill>
            </a:endParaRPr>
          </a:p>
          <a:p>
            <a:pPr indent="-171450" lvl="0" marL="171450" marR="0" rtl="0" algn="l">
              <a:lnSpc>
                <a:spcPct val="100000"/>
              </a:lnSpc>
              <a:spcBef>
                <a:spcPts val="0"/>
              </a:spcBef>
              <a:spcAft>
                <a:spcPts val="0"/>
              </a:spcAft>
              <a:buClr>
                <a:srgbClr val="000000"/>
              </a:buClr>
              <a:buSzPts val="1100"/>
              <a:buChar char="●"/>
            </a:pPr>
            <a:r>
              <a:rPr i="1" lang="en-US"/>
              <a:t>Grooic. (2025, January 21). 3 key eCommerce metrics you must track: AOV, CR, and RPV. </a:t>
            </a:r>
            <a:endParaRPr b="0" i="1">
              <a:solidFill>
                <a:schemeClr val="lt1"/>
              </a:solidFill>
              <a:latin typeface="Google Sans"/>
              <a:ea typeface="Google Sans"/>
              <a:cs typeface="Google Sans"/>
              <a:sym typeface="Google Sans"/>
            </a:endParaRPr>
          </a:p>
          <a:p>
            <a:pPr indent="-171450" lvl="0" marL="171450" marR="0" rtl="0" algn="l">
              <a:lnSpc>
                <a:spcPct val="100000"/>
              </a:lnSpc>
              <a:spcBef>
                <a:spcPts val="0"/>
              </a:spcBef>
              <a:spcAft>
                <a:spcPts val="0"/>
              </a:spcAft>
              <a:buClr>
                <a:srgbClr val="000000"/>
              </a:buClr>
              <a:buSzPts val="1100"/>
              <a:buChar char="●"/>
            </a:pPr>
            <a:r>
              <a:rPr i="1" lang="en-US"/>
              <a:t>Saras Analytics. (2025, July 10). AOV eCommerce: 11 strategies for driving higher sales in 2025.</a:t>
            </a:r>
            <a:endParaRPr/>
          </a:p>
          <a:p>
            <a:pPr indent="-171450" lvl="0" marL="171450" marR="0" rtl="0" algn="l">
              <a:lnSpc>
                <a:spcPct val="100000"/>
              </a:lnSpc>
              <a:spcBef>
                <a:spcPts val="0"/>
              </a:spcBef>
              <a:spcAft>
                <a:spcPts val="0"/>
              </a:spcAft>
              <a:buClr>
                <a:srgbClr val="000000"/>
              </a:buClr>
              <a:buSzPts val="1100"/>
              <a:buChar char="●"/>
            </a:pPr>
            <a:r>
              <a:rPr i="1" lang="en-US"/>
              <a:t>Triple Whale. (n.d.). Ecommerce benchmarks 2025: Key metrics &amp; industry data. </a:t>
            </a: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lang="en-US"/>
              <a:t>AOV is crucial for sustainability. As advertising costs continue to rise, a higher AOV helps you offset those costs. Simply put: higher AOV means more revenue per customer, which gives you more profit to reinvest back into the business for sustainable growth. ads are getting more expensive every year. If it costs you to get a customer, and they only spend , you’re in trouble. But if they spend , you’re winning. A high AOV is your insurance policy against rising marketing costs. </a:t>
            </a:r>
            <a:r>
              <a:rPr b="0" i="0" lang="en-US" sz="1100" u="none" cap="none" strike="noStrike">
                <a:solidFill>
                  <a:srgbClr val="000000"/>
                </a:solidFill>
                <a:latin typeface="Arial"/>
                <a:ea typeface="Arial"/>
                <a:cs typeface="Arial"/>
                <a:sym typeface="Arial"/>
              </a:rPr>
              <a:t>To put it simply, these strategies are about getting customers to put more in their carts before they check out. Here is the breakdown: Product </a:t>
            </a:r>
            <a:endParaRPr/>
          </a:p>
          <a:p>
            <a:pPr indent="0" lvl="0" marL="0" marR="0" rtl="0" algn="l">
              <a:lnSpc>
                <a:spcPct val="100000"/>
              </a:lnSpc>
              <a:spcBef>
                <a:spcPts val="0"/>
              </a:spcBef>
              <a:spcAft>
                <a:spcPts val="0"/>
              </a:spcAft>
              <a:buClr>
                <a:srgbClr val="000000"/>
              </a:buClr>
              <a:buSzPts val="1100"/>
              <a:buFont typeface="Arial"/>
              <a:buNone/>
            </a:pPr>
            <a:r>
              <a:t/>
            </a:r>
            <a:endParaRPr/>
          </a:p>
          <a:p>
            <a:pPr indent="0" lvl="0" marL="0" marR="0" rtl="0" algn="l">
              <a:lnSpc>
                <a:spcPct val="100000"/>
              </a:lnSpc>
              <a:spcBef>
                <a:spcPts val="0"/>
              </a:spcBef>
              <a:spcAft>
                <a:spcPts val="0"/>
              </a:spcAft>
              <a:buClr>
                <a:srgbClr val="000000"/>
              </a:buClr>
              <a:buSzPts val="1100"/>
              <a:buFont typeface="Arial"/>
              <a:buNone/>
            </a:pPr>
            <a:r>
              <a:t/>
            </a:r>
            <a:endParaRPr>
              <a:solidFill>
                <a:schemeClr val="lt1"/>
              </a:solidFill>
            </a:endParaRPr>
          </a:p>
          <a:p>
            <a:pPr indent="0" lvl="0" marL="0" rtl="0" algn="l">
              <a:lnSpc>
                <a:spcPct val="100000"/>
              </a:lnSpc>
              <a:spcBef>
                <a:spcPts val="0"/>
              </a:spcBef>
              <a:spcAft>
                <a:spcPts val="0"/>
              </a:spcAft>
              <a:buSzPts val="1100"/>
              <a:buNone/>
            </a:pPr>
            <a:r>
              <a:t/>
            </a:r>
            <a:endParaRPr/>
          </a:p>
        </p:txBody>
      </p:sp>
      <p:sp>
        <p:nvSpPr>
          <p:cNvPr id="174" name="Google Shape;17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US"/>
              <a:t>Citation: </a:t>
            </a:r>
            <a:endParaRPr/>
          </a:p>
          <a:p>
            <a:pPr indent="0" lvl="0" marL="0" marR="0" rtl="0" algn="l">
              <a:lnSpc>
                <a:spcPct val="100000"/>
              </a:lnSpc>
              <a:spcBef>
                <a:spcPts val="0"/>
              </a:spcBef>
              <a:spcAft>
                <a:spcPts val="0"/>
              </a:spcAft>
              <a:buClr>
                <a:srgbClr val="000000"/>
              </a:buClr>
              <a:buSzPts val="1100"/>
              <a:buFont typeface="Arial"/>
              <a:buNone/>
            </a:pPr>
            <a:r>
              <a:rPr lang="en-US"/>
              <a:t>Image: Macrovector. (n.d.). </a:t>
            </a:r>
            <a:r>
              <a:rPr i="1" lang="en-US"/>
              <a:t>Customer loyalty isometric infographic</a:t>
            </a:r>
            <a:r>
              <a:rPr lang="en-US"/>
              <a:t> [Vector image]. Freepik.</a:t>
            </a:r>
            <a:endParaRPr/>
          </a:p>
          <a:p>
            <a:pPr indent="0" lvl="0" marL="0" marR="0" rtl="0" algn="l">
              <a:lnSpc>
                <a:spcPct val="100000"/>
              </a:lnSpc>
              <a:spcBef>
                <a:spcPts val="0"/>
              </a:spcBef>
              <a:spcAft>
                <a:spcPts val="0"/>
              </a:spcAft>
              <a:buClr>
                <a:srgbClr val="000000"/>
              </a:buClr>
              <a:buSzPts val="1100"/>
              <a:buFont typeface="Arial"/>
              <a:buNone/>
            </a:pPr>
            <a:r>
              <a:t/>
            </a:r>
            <a:endParaRPr/>
          </a:p>
          <a:p>
            <a:pPr indent="0" lvl="0" marL="0" marR="0" rtl="0" algn="l">
              <a:lnSpc>
                <a:spcPct val="100000"/>
              </a:lnSpc>
              <a:spcBef>
                <a:spcPts val="0"/>
              </a:spcBef>
              <a:spcAft>
                <a:spcPts val="0"/>
              </a:spcAft>
              <a:buClr>
                <a:srgbClr val="000000"/>
              </a:buClr>
              <a:buSzPts val="1100"/>
              <a:buFont typeface="Arial"/>
              <a:buNone/>
            </a:pPr>
            <a:r>
              <a:rPr lang="en-US"/>
              <a:t>The third pillar is Customer Lifetime Value. This is the total revenue you expect to receive from a customer over the entire time they shop with you. While CR and AOV look at the immediate sale, CLV looks at long-term profitability. It is the ultimate metric for understanding how well you are retaining your customers.</a:t>
            </a:r>
            <a:endParaRPr/>
          </a:p>
          <a:p>
            <a:pPr indent="0" lvl="0" marL="0" rtl="0" algn="l">
              <a:lnSpc>
                <a:spcPct val="100000"/>
              </a:lnSpc>
              <a:spcBef>
                <a:spcPts val="0"/>
              </a:spcBef>
              <a:spcAft>
                <a:spcPts val="0"/>
              </a:spcAft>
              <a:buSzPts val="1100"/>
              <a:buNone/>
            </a:pPr>
            <a:r>
              <a:t/>
            </a:r>
            <a:endParaRPr/>
          </a:p>
        </p:txBody>
      </p:sp>
      <p:sp>
        <p:nvSpPr>
          <p:cNvPr id="183" name="Google Shape;18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US"/>
              <a:t>CLV matters because it tells you how much you can afford to spend to get a customer in the first place. It helps you identify your most valuable customers so you can focus your efforts on keeping them. A strong focus on CLV builds merchant retention and loyalty, leading to faster achievements over time. CLV is the ultimate reward for great products and even better service.</a:t>
            </a:r>
            <a:endParaRPr/>
          </a:p>
          <a:p>
            <a:pPr indent="0" lvl="0" marL="0" rtl="0" algn="l">
              <a:lnSpc>
                <a:spcPct val="100000"/>
              </a:lnSpc>
              <a:spcBef>
                <a:spcPts val="0"/>
              </a:spcBef>
              <a:spcAft>
                <a:spcPts val="0"/>
              </a:spcAft>
              <a:buSzPts val="1100"/>
              <a:buNone/>
            </a:pPr>
            <a:r>
              <a:t/>
            </a:r>
            <a:endParaRPr/>
          </a:p>
        </p:txBody>
      </p:sp>
      <p:sp>
        <p:nvSpPr>
          <p:cNvPr id="197" name="Google Shape;19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US" sz="1100"/>
              <a:t>Citations:</a:t>
            </a:r>
            <a:endParaRPr/>
          </a:p>
          <a:p>
            <a:pPr indent="0" lvl="0" marL="0" marR="0" rtl="0" algn="l">
              <a:lnSpc>
                <a:spcPct val="100000"/>
              </a:lnSpc>
              <a:spcBef>
                <a:spcPts val="0"/>
              </a:spcBef>
              <a:spcAft>
                <a:spcPts val="0"/>
              </a:spcAft>
              <a:buClr>
                <a:srgbClr val="000000"/>
              </a:buClr>
              <a:buSzPts val="1100"/>
              <a:buFont typeface="Arial"/>
              <a:buNone/>
            </a:pPr>
            <a:r>
              <a:rPr lang="en-US"/>
              <a:t>Napkin AI. (2026). </a:t>
            </a:r>
            <a:r>
              <a:rPr i="1" lang="en-US"/>
              <a:t>The Growth Revenue Engine Cycle infographic</a:t>
            </a:r>
            <a:r>
              <a:rPr lang="en-US"/>
              <a:t> [AI-generated image].</a:t>
            </a:r>
            <a:endParaRPr/>
          </a:p>
          <a:p>
            <a:pPr indent="0" lvl="0" marL="0" marR="0" rtl="0" algn="l">
              <a:lnSpc>
                <a:spcPct val="100000"/>
              </a:lnSpc>
              <a:spcBef>
                <a:spcPts val="0"/>
              </a:spcBef>
              <a:spcAft>
                <a:spcPts val="0"/>
              </a:spcAft>
              <a:buClr>
                <a:srgbClr val="000000"/>
              </a:buClr>
              <a:buSzPts val="1100"/>
              <a:buFont typeface="Arial"/>
              <a:buNone/>
            </a:pPr>
            <a:r>
              <a:t/>
            </a:r>
            <a:endParaRPr sz="1100"/>
          </a:p>
          <a:p>
            <a:pPr indent="0" lvl="0" marL="0" marR="0" rtl="0" algn="l">
              <a:lnSpc>
                <a:spcPct val="100000"/>
              </a:lnSpc>
              <a:spcBef>
                <a:spcPts val="0"/>
              </a:spcBef>
              <a:spcAft>
                <a:spcPts val="0"/>
              </a:spcAft>
              <a:buClr>
                <a:srgbClr val="000000"/>
              </a:buClr>
              <a:buSzPts val="1100"/>
              <a:buFont typeface="Arial"/>
              <a:buNone/>
            </a:pPr>
            <a:r>
              <a:rPr lang="en-US" sz="1100"/>
              <a:t>These three aren't just independent stats; they are an engine. If you improve your CR, your ads work better. If you raise your AOV, your profit grows. If you boost CLV, your business becomes stable. When all three are working together, you aren't just running a shop; you're engineering a growth machine."</a:t>
            </a:r>
            <a:endParaRPr/>
          </a:p>
          <a:p>
            <a:pPr indent="0" lvl="0" marL="0" rtl="0" algn="l">
              <a:lnSpc>
                <a:spcPct val="100000"/>
              </a:lnSpc>
              <a:spcBef>
                <a:spcPts val="0"/>
              </a:spcBef>
              <a:spcAft>
                <a:spcPts val="0"/>
              </a:spcAft>
              <a:buSzPts val="1100"/>
              <a:buNone/>
            </a:pPr>
            <a:r>
              <a:t/>
            </a:r>
            <a:endParaRPr/>
          </a:p>
        </p:txBody>
      </p:sp>
      <p:sp>
        <p:nvSpPr>
          <p:cNvPr id="210" name="Google Shape;21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US"/>
              <a:t>Citation:</a:t>
            </a:r>
            <a:endParaRPr/>
          </a:p>
          <a:p>
            <a:pPr indent="0" lvl="0" marL="0" marR="0" rtl="0" algn="l">
              <a:lnSpc>
                <a:spcPct val="100000"/>
              </a:lnSpc>
              <a:spcBef>
                <a:spcPts val="0"/>
              </a:spcBef>
              <a:spcAft>
                <a:spcPts val="0"/>
              </a:spcAft>
              <a:buClr>
                <a:srgbClr val="000000"/>
              </a:buClr>
              <a:buSzPts val="1100"/>
              <a:buFont typeface="Arial"/>
              <a:buNone/>
            </a:pPr>
            <a:r>
              <a:rPr lang="en-US"/>
              <a:t>Napkin AI. (2026). </a:t>
            </a:r>
            <a:r>
              <a:rPr i="1" lang="en-US"/>
              <a:t>Which money metric needs improvement? infographic</a:t>
            </a:r>
            <a:r>
              <a:rPr lang="en-US"/>
              <a:t> [AI-generated image]</a:t>
            </a:r>
            <a:endParaRPr/>
          </a:p>
          <a:p>
            <a:pPr indent="0" lvl="0" marL="0" marR="0" rtl="0" algn="l">
              <a:lnSpc>
                <a:spcPct val="100000"/>
              </a:lnSpc>
              <a:spcBef>
                <a:spcPts val="0"/>
              </a:spcBef>
              <a:spcAft>
                <a:spcPts val="0"/>
              </a:spcAft>
              <a:buClr>
                <a:srgbClr val="000000"/>
              </a:buClr>
              <a:buSzPts val="1100"/>
              <a:buFont typeface="Arial"/>
              <a:buNone/>
            </a:pPr>
            <a:r>
              <a:t/>
            </a:r>
            <a:endParaRPr/>
          </a:p>
          <a:p>
            <a:pPr indent="0" lvl="0" marL="0" marR="0" rtl="0" algn="l">
              <a:lnSpc>
                <a:spcPct val="100000"/>
              </a:lnSpc>
              <a:spcBef>
                <a:spcPts val="0"/>
              </a:spcBef>
              <a:spcAft>
                <a:spcPts val="0"/>
              </a:spcAft>
              <a:buClr>
                <a:srgbClr val="000000"/>
              </a:buClr>
              <a:buSzPts val="1100"/>
              <a:buFont typeface="Arial"/>
              <a:buNone/>
            </a:pPr>
            <a:r>
              <a:rPr lang="en-US"/>
              <a:t>So, where do you start? If you have plenty of traffic but no sales, fix your CR. If you have sales but no profit, raise your AOV. If you’re struggling to keep the lights on month-to-month, you need to work on your CLV. The data is talking to you—you just have to know how to listen and drown out the noise. </a:t>
            </a:r>
            <a:endParaRPr/>
          </a:p>
          <a:p>
            <a:pPr indent="0" lvl="0" marL="0" rtl="0" algn="l">
              <a:lnSpc>
                <a:spcPct val="100000"/>
              </a:lnSpc>
              <a:spcBef>
                <a:spcPts val="0"/>
              </a:spcBef>
              <a:spcAft>
                <a:spcPts val="0"/>
              </a:spcAft>
              <a:buSzPts val="1100"/>
              <a:buNone/>
            </a:pPr>
            <a:r>
              <a:t/>
            </a:r>
            <a:endParaRPr/>
          </a:p>
        </p:txBody>
      </p:sp>
      <p:sp>
        <p:nvSpPr>
          <p:cNvPr id="217" name="Google Shape;21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US"/>
              <a:t>Citation-</a:t>
            </a:r>
            <a:endParaRPr/>
          </a:p>
          <a:p>
            <a:pPr indent="0" lvl="0" marL="0" marR="0" rtl="0" algn="l">
              <a:lnSpc>
                <a:spcPct val="100000"/>
              </a:lnSpc>
              <a:spcBef>
                <a:spcPts val="0"/>
              </a:spcBef>
              <a:spcAft>
                <a:spcPts val="0"/>
              </a:spcAft>
              <a:buClr>
                <a:srgbClr val="000000"/>
              </a:buClr>
              <a:buSzPts val="1100"/>
              <a:buFont typeface="Arial"/>
              <a:buNone/>
            </a:pPr>
            <a:r>
              <a:rPr lang="en-US"/>
              <a:t>Napkin AI. (2026). </a:t>
            </a:r>
            <a:r>
              <a:rPr i="1" lang="en-US"/>
              <a:t>Business profitability and metrics target infographic</a:t>
            </a:r>
            <a:r>
              <a:rPr lang="en-US"/>
              <a:t> [AI-generated image]</a:t>
            </a:r>
            <a:endParaRPr/>
          </a:p>
          <a:p>
            <a:pPr indent="0" lvl="0" marL="0" marR="0" rtl="0" algn="l">
              <a:lnSpc>
                <a:spcPct val="100000"/>
              </a:lnSpc>
              <a:spcBef>
                <a:spcPts val="0"/>
              </a:spcBef>
              <a:spcAft>
                <a:spcPts val="0"/>
              </a:spcAft>
              <a:buClr>
                <a:srgbClr val="000000"/>
              </a:buClr>
              <a:buSzPts val="1100"/>
              <a:buFont typeface="Arial"/>
              <a:buNone/>
            </a:pPr>
            <a:r>
              <a:t/>
            </a:r>
            <a:endParaRPr/>
          </a:p>
          <a:p>
            <a:pPr indent="0" lvl="0" marL="0" marR="0" rtl="0" algn="l">
              <a:lnSpc>
                <a:spcPct val="100000"/>
              </a:lnSpc>
              <a:spcBef>
                <a:spcPts val="0"/>
              </a:spcBef>
              <a:spcAft>
                <a:spcPts val="0"/>
              </a:spcAft>
              <a:buClr>
                <a:srgbClr val="000000"/>
              </a:buClr>
              <a:buSzPts val="1100"/>
              <a:buFont typeface="Arial"/>
              <a:buNone/>
            </a:pPr>
            <a:r>
              <a:rPr lang="en-US"/>
              <a:t>To wrap things up: CR is your effectiveness, AOV is for value, and CLV is your longevity. If you master these three, you’ll stop feeling 'busy' and start feeling 'profitable.’ </a:t>
            </a:r>
            <a:endParaRPr/>
          </a:p>
          <a:p>
            <a:pPr indent="0" lvl="0" marL="0" rtl="0" algn="l">
              <a:lnSpc>
                <a:spcPct val="100000"/>
              </a:lnSpc>
              <a:spcBef>
                <a:spcPts val="0"/>
              </a:spcBef>
              <a:spcAft>
                <a:spcPts val="0"/>
              </a:spcAft>
              <a:buSzPts val="1100"/>
              <a:buNone/>
            </a:pPr>
            <a:r>
              <a:t/>
            </a:r>
            <a:endParaRPr/>
          </a:p>
        </p:txBody>
      </p:sp>
      <p:sp>
        <p:nvSpPr>
          <p:cNvPr id="246" name="Google Shape;24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 name="Google Shape;14;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0" name="Google Shape;30;p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1" name="Google Shape;31;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7" name="Google Shape;37;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38" name="Google Shape;38;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9" name="Google Shape;39;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0" name="Google Shape;40;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1" name="Google Shape;51;p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2" name="Google Shape;52;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p:nvPr>
            <p:ph idx="2" type="pic"/>
          </p:nvPr>
        </p:nvSpPr>
        <p:spPr>
          <a:xfrm>
            <a:off x="1792288" y="612775"/>
            <a:ext cx="5486400" cy="4114800"/>
          </a:xfrm>
          <a:prstGeom prst="rect">
            <a:avLst/>
          </a:prstGeom>
          <a:noFill/>
          <a:ln>
            <a:noFill/>
          </a:ln>
        </p:spPr>
      </p:sp>
      <p:sp>
        <p:nvSpPr>
          <p:cNvPr id="58" name="Google Shape;58;p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9" name="Google Shape;59;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1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5.png"/><Relationship Id="rId4" Type="http://schemas.openxmlformats.org/officeDocument/2006/relationships/image" Target="../media/image17.png"/><Relationship Id="rId5" Type="http://schemas.openxmlformats.org/officeDocument/2006/relationships/image" Target="../media/image3.png"/><Relationship Id="rId6"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27.png"/><Relationship Id="rId5"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6.png"/><Relationship Id="rId6"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79" name="Google Shape;79;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360"/>
              </a:spcBef>
              <a:spcAft>
                <a:spcPts val="0"/>
              </a:spcAft>
              <a:buClr>
                <a:schemeClr val="dk1"/>
              </a:buClr>
              <a:buSzPts val="1800"/>
              <a:buNone/>
            </a:pPr>
            <a:r>
              <a:t/>
            </a:r>
            <a:endParaRPr/>
          </a:p>
        </p:txBody>
      </p:sp>
      <p:pic>
        <p:nvPicPr>
          <p:cNvPr id="80" name="Google Shape;80;p12"/>
          <p:cNvPicPr preferRelativeResize="0"/>
          <p:nvPr/>
        </p:nvPicPr>
        <p:blipFill rotWithShape="1">
          <a:blip r:embed="rId3">
            <a:alphaModFix/>
          </a:blip>
          <a:srcRect b="0" l="0" r="0" t="0"/>
          <a:stretch/>
        </p:blipFill>
        <p:spPr>
          <a:xfrm>
            <a:off x="0" y="0"/>
            <a:ext cx="12282051" cy="6991154"/>
          </a:xfrm>
          <a:prstGeom prst="rect">
            <a:avLst/>
          </a:prstGeom>
          <a:noFill/>
          <a:ln>
            <a:noFill/>
          </a:ln>
        </p:spPr>
      </p:pic>
      <p:sp>
        <p:nvSpPr>
          <p:cNvPr id="81" name="Google Shape;81;p12"/>
          <p:cNvSpPr txBox="1"/>
          <p:nvPr/>
        </p:nvSpPr>
        <p:spPr>
          <a:xfrm>
            <a:off x="3070877" y="313504"/>
            <a:ext cx="6140400" cy="1668600"/>
          </a:xfrm>
          <a:prstGeom prst="rect">
            <a:avLst/>
          </a:prstGeom>
          <a:noFill/>
          <a:ln>
            <a:noFill/>
          </a:ln>
        </p:spPr>
        <p:txBody>
          <a:bodyPr anchorCtr="0" anchor="t" bIns="45700" lIns="91425" spcFirstLastPara="1" rIns="91425" wrap="square" tIns="45700">
            <a:spAutoFit/>
          </a:bodyPr>
          <a:lstStyle/>
          <a:p>
            <a:pPr indent="0" lvl="0" marL="0" marR="0" rtl="0" algn="ctr">
              <a:lnSpc>
                <a:spcPct val="120000"/>
              </a:lnSpc>
              <a:spcBef>
                <a:spcPts val="0"/>
              </a:spcBef>
              <a:spcAft>
                <a:spcPts val="0"/>
              </a:spcAft>
              <a:buClr>
                <a:srgbClr val="000000"/>
              </a:buClr>
              <a:buSzPts val="4000"/>
              <a:buFont typeface="Arial"/>
              <a:buNone/>
            </a:pPr>
            <a:r>
              <a:rPr b="1" i="0" lang="en-US" sz="4000" u="none" cap="none" strike="noStrike">
                <a:solidFill>
                  <a:srgbClr val="FFFFFF"/>
                </a:solidFill>
                <a:latin typeface="Merriweather"/>
                <a:ea typeface="Merriweather"/>
                <a:cs typeface="Merriweather"/>
                <a:sym typeface="Merriweather"/>
              </a:rPr>
              <a:t>THE PROFIT PILLARS</a:t>
            </a:r>
            <a:endParaRPr/>
          </a:p>
          <a:p>
            <a:pPr indent="0" lvl="0" marL="0" marR="0" rtl="0" algn="ctr">
              <a:lnSpc>
                <a:spcPct val="120000"/>
              </a:lnSpc>
              <a:spcBef>
                <a:spcPts val="0"/>
              </a:spcBef>
              <a:spcAft>
                <a:spcPts val="0"/>
              </a:spcAft>
              <a:buClr>
                <a:srgbClr val="000000"/>
              </a:buClr>
              <a:buSzPts val="1100"/>
              <a:buFont typeface="Arial"/>
              <a:buNone/>
            </a:pPr>
            <a:r>
              <a:rPr b="1" i="0" lang="en-US" sz="1200" u="none" cap="none" strike="noStrike">
                <a:solidFill>
                  <a:srgbClr val="FFFFFF"/>
                </a:solidFill>
                <a:latin typeface="Merriweather"/>
                <a:ea typeface="Merriweather"/>
                <a:cs typeface="Merriweather"/>
                <a:sym typeface="Merriweather"/>
              </a:rPr>
              <a:t>Shopify’s Analytics: Data to Dollars </a:t>
            </a:r>
            <a:endParaRPr b="1" i="0" sz="1200" u="none" cap="none" strike="noStrike">
              <a:solidFill>
                <a:schemeClr val="lt1"/>
              </a:solidFill>
              <a:latin typeface="Merriweather"/>
              <a:ea typeface="Merriweather"/>
              <a:cs typeface="Merriweather"/>
              <a:sym typeface="Merriweather"/>
            </a:endParaRPr>
          </a:p>
          <a:p>
            <a:pPr indent="0" lvl="0" marL="0" marR="0" rtl="0" algn="ctr">
              <a:lnSpc>
                <a:spcPct val="120000"/>
              </a:lnSpc>
              <a:spcBef>
                <a:spcPts val="0"/>
              </a:spcBef>
              <a:spcAft>
                <a:spcPts val="0"/>
              </a:spcAft>
              <a:buClr>
                <a:srgbClr val="000000"/>
              </a:buClr>
              <a:buSzPts val="4000"/>
              <a:buFont typeface="Arial"/>
              <a:buNone/>
            </a:pPr>
            <a:r>
              <a:t/>
            </a:r>
            <a:endParaRPr b="1" i="0" sz="4000" u="none" cap="none" strike="noStrike">
              <a:solidFill>
                <a:srgbClr val="FFFFFF"/>
              </a:solidFill>
              <a:latin typeface="Merriweather"/>
              <a:ea typeface="Merriweather"/>
              <a:cs typeface="Merriweather"/>
              <a:sym typeface="Merriweather"/>
            </a:endParaRPr>
          </a:p>
        </p:txBody>
      </p:sp>
      <p:sp>
        <p:nvSpPr>
          <p:cNvPr id="82" name="Google Shape;82;p12"/>
          <p:cNvSpPr txBox="1"/>
          <p:nvPr/>
        </p:nvSpPr>
        <p:spPr>
          <a:xfrm>
            <a:off x="2812077" y="1571545"/>
            <a:ext cx="62892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60000"/>
              </a:lnSpc>
              <a:spcBef>
                <a:spcPts val="0"/>
              </a:spcBef>
              <a:spcAft>
                <a:spcPts val="0"/>
              </a:spcAft>
              <a:buClr>
                <a:srgbClr val="000000"/>
              </a:buClr>
              <a:buSzPts val="2000"/>
              <a:buFont typeface="Arial"/>
              <a:buNone/>
            </a:pPr>
            <a:r>
              <a:rPr b="1" lang="en-US" sz="2000">
                <a:solidFill>
                  <a:schemeClr val="lt1"/>
                </a:solidFill>
                <a:latin typeface="Open Sans"/>
                <a:ea typeface="Open Sans"/>
                <a:cs typeface="Open Sans"/>
                <a:sym typeface="Open Sans"/>
              </a:rPr>
              <a:t>‘</a:t>
            </a:r>
            <a:r>
              <a:rPr b="1" i="0" lang="en-US" sz="2000" u="none" cap="none" strike="noStrike">
                <a:solidFill>
                  <a:schemeClr val="lt1"/>
                </a:solidFill>
                <a:latin typeface="Open Sans"/>
                <a:ea typeface="Open Sans"/>
                <a:cs typeface="Open Sans"/>
                <a:sym typeface="Open Sans"/>
              </a:rPr>
              <a:t>Stop feeling busy and start feeling profitable</a:t>
            </a:r>
            <a:r>
              <a:rPr b="1" lang="en-US" sz="2000">
                <a:solidFill>
                  <a:schemeClr val="lt1"/>
                </a:solidFill>
                <a:latin typeface="Open Sans"/>
                <a:ea typeface="Open Sans"/>
                <a:cs typeface="Open Sans"/>
                <a:sym typeface="Open Sans"/>
              </a:rPr>
              <a:t>’</a:t>
            </a:r>
            <a:endParaRPr b="1" i="0" sz="2000" u="none" cap="none" strike="noStrike">
              <a:solidFill>
                <a:schemeClr val="lt1"/>
              </a:solidFill>
              <a:latin typeface="Arial"/>
              <a:ea typeface="Arial"/>
              <a:cs typeface="Arial"/>
              <a:sym typeface="Arial"/>
            </a:endParaRPr>
          </a:p>
        </p:txBody>
      </p:sp>
      <p:sp>
        <p:nvSpPr>
          <p:cNvPr id="83" name="Google Shape;83;p12"/>
          <p:cNvSpPr txBox="1"/>
          <p:nvPr/>
        </p:nvSpPr>
        <p:spPr>
          <a:xfrm>
            <a:off x="2676331" y="2189060"/>
            <a:ext cx="6839338"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lt1"/>
                </a:solidFill>
                <a:latin typeface="Open Sans"/>
                <a:ea typeface="Open Sans"/>
                <a:cs typeface="Open Sans"/>
                <a:sym typeface="Open Sans"/>
              </a:rPr>
              <a:t>Learn to transform raw Shopify store data into tangible revenue and business growth through strategic analysis</a:t>
            </a:r>
            <a:endParaRPr/>
          </a:p>
        </p:txBody>
      </p:sp>
      <p:sp>
        <p:nvSpPr>
          <p:cNvPr id="84" name="Google Shape;84;p12"/>
          <p:cNvSpPr txBox="1"/>
          <p:nvPr/>
        </p:nvSpPr>
        <p:spPr>
          <a:xfrm>
            <a:off x="9909901" y="6473025"/>
            <a:ext cx="22821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200" u="none" cap="none" strike="noStrike">
                <a:solidFill>
                  <a:schemeClr val="lt1"/>
                </a:solidFill>
                <a:latin typeface="Lato"/>
                <a:ea typeface="Lato"/>
                <a:cs typeface="Lato"/>
                <a:sym typeface="Lato"/>
              </a:rPr>
              <a:t> Instruct</a:t>
            </a:r>
            <a:r>
              <a:rPr i="1" lang="en-US" sz="1200">
                <a:solidFill>
                  <a:schemeClr val="lt1"/>
                </a:solidFill>
                <a:latin typeface="Lato"/>
                <a:ea typeface="Lato"/>
                <a:cs typeface="Lato"/>
                <a:sym typeface="Lato"/>
              </a:rPr>
              <a:t>or : </a:t>
            </a:r>
            <a:r>
              <a:rPr b="0" i="1" lang="en-US" sz="1200" u="none" cap="none" strike="noStrike">
                <a:solidFill>
                  <a:schemeClr val="lt1"/>
                </a:solidFill>
                <a:latin typeface="Lato"/>
                <a:ea typeface="Lato"/>
                <a:cs typeface="Lato"/>
                <a:sym typeface="Lato"/>
              </a:rPr>
              <a:t>Hassarath, A. </a:t>
            </a:r>
            <a:endParaRPr b="0" i="0" sz="1200" u="none" cap="none" strike="noStrik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88" name="Shape 88"/>
        <p:cNvGrpSpPr/>
        <p:nvPr/>
      </p:nvGrpSpPr>
      <p:grpSpPr>
        <a:xfrm>
          <a:off x="0" y="0"/>
          <a:ext cx="0" cy="0"/>
          <a:chOff x="0" y="0"/>
          <a:chExt cx="0" cy="0"/>
        </a:xfrm>
      </p:grpSpPr>
      <p:sp>
        <p:nvSpPr>
          <p:cNvPr id="89" name="Google Shape;89;p13"/>
          <p:cNvSpPr txBox="1"/>
          <p:nvPr/>
        </p:nvSpPr>
        <p:spPr>
          <a:xfrm>
            <a:off x="701822" y="2724638"/>
            <a:ext cx="28404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3"/>
          <p:cNvSpPr txBox="1"/>
          <p:nvPr/>
        </p:nvSpPr>
        <p:spPr>
          <a:xfrm>
            <a:off x="769475" y="3143325"/>
            <a:ext cx="2705100" cy="215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3"/>
          <p:cNvSpPr txBox="1"/>
          <p:nvPr/>
        </p:nvSpPr>
        <p:spPr>
          <a:xfrm>
            <a:off x="771525" y="581025"/>
            <a:ext cx="11381400" cy="50783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rgbClr val="FFFFFF"/>
                </a:solidFill>
                <a:latin typeface="Merriweather"/>
                <a:ea typeface="Merriweather"/>
                <a:cs typeface="Merriweather"/>
                <a:sym typeface="Merriweather"/>
              </a:rPr>
              <a:t>Module 1: Mastering the Money Metrics </a:t>
            </a:r>
            <a:endParaRPr b="0" i="0" sz="1400" u="none" cap="none" strike="noStrike">
              <a:solidFill>
                <a:srgbClr val="000000"/>
              </a:solidFill>
              <a:latin typeface="Arial"/>
              <a:ea typeface="Arial"/>
              <a:cs typeface="Arial"/>
              <a:sym typeface="Arial"/>
            </a:endParaRPr>
          </a:p>
        </p:txBody>
      </p:sp>
      <p:sp>
        <p:nvSpPr>
          <p:cNvPr id="92" name="Google Shape;92;p13"/>
          <p:cNvSpPr/>
          <p:nvPr/>
        </p:nvSpPr>
        <p:spPr>
          <a:xfrm>
            <a:off x="581025" y="581025"/>
            <a:ext cx="57300" cy="52380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 name="Google Shape;93;p13"/>
          <p:cNvSpPr txBox="1"/>
          <p:nvPr/>
        </p:nvSpPr>
        <p:spPr>
          <a:xfrm>
            <a:off x="9353550" y="6412259"/>
            <a:ext cx="2257500" cy="150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975"/>
              <a:buFont typeface="Arial"/>
              <a:buNone/>
            </a:pPr>
            <a:r>
              <a:rPr b="0" i="1" lang="en-US" sz="975" u="none" cap="none" strike="noStrike">
                <a:solidFill>
                  <a:srgbClr val="7F7F7F"/>
                </a:solidFill>
                <a:latin typeface="Open Sans"/>
                <a:ea typeface="Open Sans"/>
                <a:cs typeface="Open Sans"/>
                <a:sym typeface="Open Sans"/>
              </a:rPr>
              <a:t> Hassarath, A. (2025). Course Curriculum. </a:t>
            </a:r>
            <a:endParaRPr b="0" i="0" sz="1400" u="none" cap="none" strike="noStrike">
              <a:solidFill>
                <a:srgbClr val="7F7F7F"/>
              </a:solidFill>
              <a:latin typeface="Arial"/>
              <a:ea typeface="Arial"/>
              <a:cs typeface="Arial"/>
              <a:sym typeface="Arial"/>
            </a:endParaRPr>
          </a:p>
        </p:txBody>
      </p:sp>
      <p:pic>
        <p:nvPicPr>
          <p:cNvPr descr="image.png" id="94" name="Google Shape;94;p13"/>
          <p:cNvPicPr preferRelativeResize="0"/>
          <p:nvPr/>
        </p:nvPicPr>
        <p:blipFill rotWithShape="1">
          <a:blip r:embed="rId3">
            <a:alphaModFix/>
          </a:blip>
          <a:srcRect b="0" l="0" r="0" t="0"/>
          <a:stretch/>
        </p:blipFill>
        <p:spPr>
          <a:xfrm>
            <a:off x="549213" y="1874975"/>
            <a:ext cx="3363325" cy="3818900"/>
          </a:xfrm>
          <a:prstGeom prst="rect">
            <a:avLst/>
          </a:prstGeom>
          <a:noFill/>
          <a:ln>
            <a:noFill/>
          </a:ln>
        </p:spPr>
      </p:pic>
      <p:sp>
        <p:nvSpPr>
          <p:cNvPr id="95" name="Google Shape;95;p13"/>
          <p:cNvSpPr txBox="1"/>
          <p:nvPr/>
        </p:nvSpPr>
        <p:spPr>
          <a:xfrm>
            <a:off x="701825" y="2839425"/>
            <a:ext cx="3000000" cy="477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rgbClr val="38BDF8"/>
                </a:solidFill>
                <a:latin typeface="Poppins"/>
                <a:ea typeface="Poppins"/>
                <a:cs typeface="Poppins"/>
                <a:sym typeface="Poppins"/>
              </a:rPr>
              <a:t>Deeper Understanding</a:t>
            </a:r>
            <a:endParaRPr b="0" i="0" sz="1900" u="none" cap="none" strike="noStrike">
              <a:solidFill>
                <a:schemeClr val="dk1"/>
              </a:solidFill>
              <a:latin typeface="Arial"/>
              <a:ea typeface="Arial"/>
              <a:cs typeface="Arial"/>
              <a:sym typeface="Arial"/>
            </a:endParaRPr>
          </a:p>
        </p:txBody>
      </p:sp>
      <p:sp>
        <p:nvSpPr>
          <p:cNvPr id="96" name="Google Shape;96;p13"/>
          <p:cNvSpPr txBox="1"/>
          <p:nvPr/>
        </p:nvSpPr>
        <p:spPr>
          <a:xfrm>
            <a:off x="625588" y="3367100"/>
            <a:ext cx="3210600" cy="2377544"/>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rgbClr val="000000"/>
              </a:buClr>
              <a:buSzPts val="1900"/>
              <a:buFont typeface="Arial"/>
              <a:buNone/>
            </a:pPr>
            <a:r>
              <a:rPr b="0" i="0" lang="en-US" sz="1900" u="none" cap="none" strike="noStrike">
                <a:solidFill>
                  <a:srgbClr val="94A3B8"/>
                </a:solidFill>
                <a:latin typeface="Lato"/>
                <a:ea typeface="Lato"/>
                <a:cs typeface="Lato"/>
                <a:sym typeface="Lato"/>
              </a:rPr>
              <a:t>Understanding the Profit Pillars (CR, AOV, CLV) to separate meaningful data from noise and secondary activity stats.</a:t>
            </a:r>
            <a:endParaRPr b="0" i="0" sz="1900" u="none" cap="none" strike="noStrike">
              <a:solidFill>
                <a:schemeClr val="dk1"/>
              </a:solidFill>
              <a:latin typeface="Arial"/>
              <a:ea typeface="Arial"/>
              <a:cs typeface="Arial"/>
              <a:sym typeface="Arial"/>
            </a:endParaRPr>
          </a:p>
        </p:txBody>
      </p:sp>
      <p:pic>
        <p:nvPicPr>
          <p:cNvPr descr="image.png" id="97" name="Google Shape;97;p13"/>
          <p:cNvPicPr preferRelativeResize="0"/>
          <p:nvPr/>
        </p:nvPicPr>
        <p:blipFill rotWithShape="1">
          <a:blip r:embed="rId4">
            <a:alphaModFix/>
          </a:blip>
          <a:srcRect b="0" l="0" r="0" t="0"/>
          <a:stretch/>
        </p:blipFill>
        <p:spPr>
          <a:xfrm>
            <a:off x="1983253" y="2098553"/>
            <a:ext cx="626068" cy="626100"/>
          </a:xfrm>
          <a:prstGeom prst="rect">
            <a:avLst/>
          </a:prstGeom>
          <a:noFill/>
          <a:ln>
            <a:noFill/>
          </a:ln>
        </p:spPr>
      </p:pic>
      <p:pic>
        <p:nvPicPr>
          <p:cNvPr descr="image.png" id="98" name="Google Shape;98;p13"/>
          <p:cNvPicPr preferRelativeResize="0"/>
          <p:nvPr/>
        </p:nvPicPr>
        <p:blipFill rotWithShape="1">
          <a:blip r:embed="rId3">
            <a:alphaModFix/>
          </a:blip>
          <a:srcRect b="0" l="0" r="0" t="0"/>
          <a:stretch/>
        </p:blipFill>
        <p:spPr>
          <a:xfrm>
            <a:off x="4297075" y="1874975"/>
            <a:ext cx="3363325" cy="3818900"/>
          </a:xfrm>
          <a:prstGeom prst="rect">
            <a:avLst/>
          </a:prstGeom>
          <a:noFill/>
          <a:ln>
            <a:noFill/>
          </a:ln>
        </p:spPr>
      </p:pic>
      <p:pic>
        <p:nvPicPr>
          <p:cNvPr descr="image.png" id="99" name="Google Shape;99;p13"/>
          <p:cNvPicPr preferRelativeResize="0"/>
          <p:nvPr/>
        </p:nvPicPr>
        <p:blipFill rotWithShape="1">
          <a:blip r:embed="rId3">
            <a:alphaModFix/>
          </a:blip>
          <a:srcRect b="0" l="0" r="0" t="0"/>
          <a:stretch/>
        </p:blipFill>
        <p:spPr>
          <a:xfrm>
            <a:off x="8044925" y="1874975"/>
            <a:ext cx="3414934" cy="3877500"/>
          </a:xfrm>
          <a:prstGeom prst="rect">
            <a:avLst/>
          </a:prstGeom>
          <a:noFill/>
          <a:ln>
            <a:noFill/>
          </a:ln>
        </p:spPr>
      </p:pic>
      <p:pic>
        <p:nvPicPr>
          <p:cNvPr descr="image.png" id="100" name="Google Shape;100;p13"/>
          <p:cNvPicPr preferRelativeResize="0"/>
          <p:nvPr/>
        </p:nvPicPr>
        <p:blipFill rotWithShape="1">
          <a:blip r:embed="rId5">
            <a:alphaModFix/>
          </a:blip>
          <a:srcRect b="0" l="0" r="0" t="0"/>
          <a:stretch/>
        </p:blipFill>
        <p:spPr>
          <a:xfrm>
            <a:off x="5625725" y="2098550"/>
            <a:ext cx="626075" cy="626075"/>
          </a:xfrm>
          <a:prstGeom prst="rect">
            <a:avLst/>
          </a:prstGeom>
          <a:noFill/>
          <a:ln>
            <a:noFill/>
          </a:ln>
        </p:spPr>
      </p:pic>
      <p:sp>
        <p:nvSpPr>
          <p:cNvPr id="101" name="Google Shape;101;p13"/>
          <p:cNvSpPr txBox="1"/>
          <p:nvPr/>
        </p:nvSpPr>
        <p:spPr>
          <a:xfrm>
            <a:off x="4373375" y="2724650"/>
            <a:ext cx="31842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rgbClr val="38BDF8"/>
                </a:solidFill>
                <a:latin typeface="Open Sans"/>
                <a:ea typeface="Open Sans"/>
                <a:cs typeface="Open Sans"/>
                <a:sym typeface="Open Sans"/>
              </a:rPr>
              <a:t>Data </a:t>
            </a:r>
            <a:r>
              <a:rPr b="1" i="0" lang="en-US" sz="2000" u="none" cap="none" strike="noStrike">
                <a:solidFill>
                  <a:srgbClr val="38BDF8"/>
                </a:solidFill>
                <a:latin typeface="Open Sans"/>
                <a:ea typeface="Open Sans"/>
                <a:cs typeface="Open Sans"/>
                <a:sym typeface="Open Sans"/>
              </a:rPr>
              <a:t>Transformation</a:t>
            </a:r>
            <a:endParaRPr b="0" i="0" sz="2000" u="none" cap="none" strike="noStrike">
              <a:solidFill>
                <a:schemeClr val="dk1"/>
              </a:solidFill>
              <a:latin typeface="Arial"/>
              <a:ea typeface="Arial"/>
              <a:cs typeface="Arial"/>
              <a:sym typeface="Arial"/>
            </a:endParaRPr>
          </a:p>
        </p:txBody>
      </p:sp>
      <p:sp>
        <p:nvSpPr>
          <p:cNvPr id="102" name="Google Shape;102;p13"/>
          <p:cNvSpPr txBox="1"/>
          <p:nvPr/>
        </p:nvSpPr>
        <p:spPr>
          <a:xfrm>
            <a:off x="4478725" y="3316425"/>
            <a:ext cx="3000000" cy="22320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rgbClr val="000000"/>
              </a:buClr>
              <a:buSzPts val="1900"/>
              <a:buFont typeface="Arial"/>
              <a:buNone/>
            </a:pPr>
            <a:r>
              <a:rPr b="0" i="0" lang="en-US" sz="1900" u="none" cap="none" strike="noStrike">
                <a:solidFill>
                  <a:srgbClr val="94A3B8"/>
                </a:solidFill>
                <a:latin typeface="Lato"/>
                <a:ea typeface="Lato"/>
                <a:cs typeface="Lato"/>
                <a:sym typeface="Lato"/>
              </a:rPr>
              <a:t>Learn to transform raw Shopify store data into tangible revenue and business growth through strategic analysis.</a:t>
            </a:r>
            <a:endParaRPr b="0" i="0" sz="1900" u="none" cap="none" strike="noStrike">
              <a:solidFill>
                <a:schemeClr val="dk1"/>
              </a:solidFill>
              <a:latin typeface="Arial"/>
              <a:ea typeface="Arial"/>
              <a:cs typeface="Arial"/>
              <a:sym typeface="Arial"/>
            </a:endParaRPr>
          </a:p>
        </p:txBody>
      </p:sp>
      <p:pic>
        <p:nvPicPr>
          <p:cNvPr descr="image.png" id="103" name="Google Shape;103;p13"/>
          <p:cNvPicPr preferRelativeResize="0"/>
          <p:nvPr/>
        </p:nvPicPr>
        <p:blipFill rotWithShape="1">
          <a:blip r:embed="rId6">
            <a:alphaModFix/>
          </a:blip>
          <a:srcRect b="0" l="0" r="0" t="0"/>
          <a:stretch/>
        </p:blipFill>
        <p:spPr>
          <a:xfrm>
            <a:off x="9439350" y="2098550"/>
            <a:ext cx="626075" cy="626075"/>
          </a:xfrm>
          <a:prstGeom prst="rect">
            <a:avLst/>
          </a:prstGeom>
          <a:noFill/>
          <a:ln>
            <a:noFill/>
          </a:ln>
        </p:spPr>
      </p:pic>
      <p:sp>
        <p:nvSpPr>
          <p:cNvPr id="104" name="Google Shape;104;p13"/>
          <p:cNvSpPr txBox="1"/>
          <p:nvPr/>
        </p:nvSpPr>
        <p:spPr>
          <a:xfrm>
            <a:off x="8255650" y="2831625"/>
            <a:ext cx="30000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38BDF8"/>
                </a:solidFill>
                <a:latin typeface="Poppins"/>
                <a:ea typeface="Poppins"/>
                <a:cs typeface="Poppins"/>
                <a:sym typeface="Poppins"/>
              </a:rPr>
              <a:t>Smarter Decisions</a:t>
            </a:r>
            <a:endParaRPr b="0" i="0" sz="2000" u="none" cap="none" strike="noStrike">
              <a:solidFill>
                <a:schemeClr val="dk1"/>
              </a:solidFill>
              <a:latin typeface="Arial"/>
              <a:ea typeface="Arial"/>
              <a:cs typeface="Arial"/>
              <a:sym typeface="Arial"/>
            </a:endParaRPr>
          </a:p>
        </p:txBody>
      </p:sp>
      <p:sp>
        <p:nvSpPr>
          <p:cNvPr id="105" name="Google Shape;105;p13"/>
          <p:cNvSpPr txBox="1"/>
          <p:nvPr/>
        </p:nvSpPr>
        <p:spPr>
          <a:xfrm>
            <a:off x="8217700" y="3316413"/>
            <a:ext cx="3075900" cy="22320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rgbClr val="000000"/>
              </a:buClr>
              <a:buSzPts val="1900"/>
              <a:buFont typeface="Arial"/>
              <a:buNone/>
            </a:pPr>
            <a:r>
              <a:rPr b="0" i="0" lang="en-US" sz="1900" u="none" cap="none" strike="noStrike">
                <a:solidFill>
                  <a:srgbClr val="94A3B8"/>
                </a:solidFill>
                <a:latin typeface="Lato"/>
                <a:ea typeface="Lato"/>
                <a:cs typeface="Lato"/>
                <a:sym typeface="Lato"/>
              </a:rPr>
              <a:t>Utilize proven metrics to move beyond activity reporting to profitable, data-backed strategic actions.</a:t>
            </a:r>
            <a:endParaRPr b="0" i="0" sz="19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109" name="Shape 109"/>
        <p:cNvGrpSpPr/>
        <p:nvPr/>
      </p:nvGrpSpPr>
      <p:grpSpPr>
        <a:xfrm>
          <a:off x="0" y="0"/>
          <a:ext cx="0" cy="0"/>
          <a:chOff x="0" y="0"/>
          <a:chExt cx="0" cy="0"/>
        </a:xfrm>
      </p:grpSpPr>
      <p:pic>
        <p:nvPicPr>
          <p:cNvPr descr="image.png" id="110" name="Google Shape;110;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1" name="Google Shape;111;p14"/>
          <p:cNvPicPr preferRelativeResize="0"/>
          <p:nvPr/>
        </p:nvPicPr>
        <p:blipFill rotWithShape="1">
          <a:blip r:embed="rId4">
            <a:alphaModFix/>
          </a:blip>
          <a:srcRect b="0" l="0" r="0" t="0"/>
          <a:stretch/>
        </p:blipFill>
        <p:spPr>
          <a:xfrm>
            <a:off x="6381750" y="1438275"/>
            <a:ext cx="5229225" cy="3810000"/>
          </a:xfrm>
          <a:prstGeom prst="rect">
            <a:avLst/>
          </a:prstGeom>
          <a:noFill/>
          <a:ln>
            <a:noFill/>
          </a:ln>
        </p:spPr>
      </p:pic>
      <p:sp>
        <p:nvSpPr>
          <p:cNvPr id="112" name="Google Shape;112;p14"/>
          <p:cNvSpPr txBox="1"/>
          <p:nvPr/>
        </p:nvSpPr>
        <p:spPr>
          <a:xfrm>
            <a:off x="619125" y="1523510"/>
            <a:ext cx="54906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FFFFFF"/>
                </a:solidFill>
                <a:latin typeface="Open Sans"/>
                <a:ea typeface="Open Sans"/>
                <a:cs typeface="Open Sans"/>
                <a:sym typeface="Open Sans"/>
              </a:rPr>
              <a:t>The Challenge</a:t>
            </a:r>
            <a:endParaRPr b="0" i="0" sz="2200" u="none" cap="none" strike="noStrike">
              <a:solidFill>
                <a:srgbClr val="000000"/>
              </a:solidFill>
              <a:latin typeface="Arial"/>
              <a:ea typeface="Arial"/>
              <a:cs typeface="Arial"/>
              <a:sym typeface="Arial"/>
            </a:endParaRPr>
          </a:p>
        </p:txBody>
      </p:sp>
      <p:sp>
        <p:nvSpPr>
          <p:cNvPr id="113" name="Google Shape;113;p14"/>
          <p:cNvSpPr txBox="1"/>
          <p:nvPr/>
        </p:nvSpPr>
        <p:spPr>
          <a:xfrm>
            <a:off x="581025" y="2189550"/>
            <a:ext cx="5229300" cy="1163700"/>
          </a:xfrm>
          <a:prstGeom prst="rect">
            <a:avLst/>
          </a:prstGeom>
          <a:noFill/>
          <a:ln>
            <a:noFill/>
          </a:ln>
        </p:spPr>
        <p:txBody>
          <a:bodyPr anchorCtr="0" anchor="t" bIns="0" lIns="0" spcFirstLastPara="1" rIns="0" wrap="square" tIns="0">
            <a:spAutoFit/>
          </a:bodyPr>
          <a:lstStyle/>
          <a:p>
            <a:pPr indent="-342900" lvl="0" marL="457200" marR="0" rtl="0" algn="l">
              <a:lnSpc>
                <a:spcPct val="160000"/>
              </a:lnSpc>
              <a:spcBef>
                <a:spcPts val="0"/>
              </a:spcBef>
              <a:spcAft>
                <a:spcPts val="0"/>
              </a:spcAft>
              <a:buClr>
                <a:srgbClr val="94A3B8"/>
              </a:buClr>
              <a:buSzPts val="1800"/>
              <a:buFont typeface="Open Sans"/>
              <a:buChar char="●"/>
            </a:pPr>
            <a:r>
              <a:rPr b="0" i="0" lang="en-US" sz="1800" u="none" cap="none" strike="noStrike">
                <a:solidFill>
                  <a:srgbClr val="94A3B8"/>
                </a:solidFill>
                <a:latin typeface="Open Sans"/>
                <a:ea typeface="Open Sans"/>
                <a:cs typeface="Open Sans"/>
                <a:sym typeface="Open Sans"/>
              </a:rPr>
              <a:t>Merchants are often overwhelmed by overwhelming amounts of data—charts, graphs, or reports that lack context.</a:t>
            </a:r>
            <a:endParaRPr b="0" i="0" sz="1800" u="none" cap="none" strike="noStrike">
              <a:solidFill>
                <a:srgbClr val="000000"/>
              </a:solidFill>
              <a:latin typeface="Arial"/>
              <a:ea typeface="Arial"/>
              <a:cs typeface="Arial"/>
              <a:sym typeface="Arial"/>
            </a:endParaRPr>
          </a:p>
        </p:txBody>
      </p:sp>
      <p:sp>
        <p:nvSpPr>
          <p:cNvPr id="114" name="Google Shape;114;p14"/>
          <p:cNvSpPr txBox="1"/>
          <p:nvPr/>
        </p:nvSpPr>
        <p:spPr>
          <a:xfrm>
            <a:off x="581013" y="3429012"/>
            <a:ext cx="5229300" cy="1163700"/>
          </a:xfrm>
          <a:prstGeom prst="rect">
            <a:avLst/>
          </a:prstGeom>
          <a:noFill/>
          <a:ln>
            <a:noFill/>
          </a:ln>
        </p:spPr>
        <p:txBody>
          <a:bodyPr anchorCtr="0" anchor="t" bIns="0" lIns="0" spcFirstLastPara="1" rIns="0" wrap="square" tIns="0">
            <a:spAutoFit/>
          </a:bodyPr>
          <a:lstStyle/>
          <a:p>
            <a:pPr indent="-342900" lvl="0" marL="457200" marR="0" rtl="0" algn="l">
              <a:lnSpc>
                <a:spcPct val="160000"/>
              </a:lnSpc>
              <a:spcBef>
                <a:spcPts val="0"/>
              </a:spcBef>
              <a:spcAft>
                <a:spcPts val="0"/>
              </a:spcAft>
              <a:buClr>
                <a:srgbClr val="94A3B8"/>
              </a:buClr>
              <a:buSzPts val="1800"/>
              <a:buFont typeface="Open Sans"/>
              <a:buChar char="●"/>
            </a:pPr>
            <a:r>
              <a:rPr b="0" i="0" lang="en-US" sz="1800" u="none" cap="none" strike="noStrike">
                <a:solidFill>
                  <a:srgbClr val="94A3B8"/>
                </a:solidFill>
                <a:latin typeface="Open Sans"/>
                <a:ea typeface="Open Sans"/>
                <a:cs typeface="Open Sans"/>
                <a:sym typeface="Open Sans"/>
              </a:rPr>
              <a:t>Too much data creates "analysis paralysis," leading to expensive mistakes and severe sales losses.</a:t>
            </a:r>
            <a:endParaRPr b="0" i="0" sz="1800" u="none" cap="none" strike="noStrike">
              <a:solidFill>
                <a:srgbClr val="000000"/>
              </a:solidFill>
              <a:latin typeface="Arial"/>
              <a:ea typeface="Arial"/>
              <a:cs typeface="Arial"/>
              <a:sym typeface="Arial"/>
            </a:endParaRPr>
          </a:p>
        </p:txBody>
      </p:sp>
      <p:sp>
        <p:nvSpPr>
          <p:cNvPr id="115" name="Google Shape;115;p14"/>
          <p:cNvSpPr txBox="1"/>
          <p:nvPr/>
        </p:nvSpPr>
        <p:spPr>
          <a:xfrm>
            <a:off x="866738" y="4869868"/>
            <a:ext cx="5229300" cy="640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600"/>
              <a:buFont typeface="Arial"/>
              <a:buNone/>
            </a:pPr>
            <a:r>
              <a:rPr b="1" i="0" lang="en-US" sz="1600" u="sng" cap="none" strike="noStrike">
                <a:solidFill>
                  <a:srgbClr val="FFFFFF"/>
                </a:solidFill>
                <a:latin typeface="Open Sans"/>
                <a:ea typeface="Open Sans"/>
                <a:cs typeface="Open Sans"/>
                <a:sym typeface="Open Sans"/>
              </a:rPr>
              <a:t>Solution</a:t>
            </a:r>
            <a:r>
              <a:rPr b="1" i="0" lang="en-US" sz="1600" u="none" cap="none" strike="noStrike">
                <a:solidFill>
                  <a:srgbClr val="FFFFFF"/>
                </a:solidFill>
                <a:latin typeface="Open Sans"/>
                <a:ea typeface="Open Sans"/>
                <a:cs typeface="Open Sans"/>
                <a:sym typeface="Open Sans"/>
              </a:rPr>
              <a:t>: Money Metrics focus directly on revenue, driving clear business actions.</a:t>
            </a:r>
            <a:endParaRPr b="0" i="0" sz="1600" u="none" cap="none" strike="noStrike">
              <a:solidFill>
                <a:srgbClr val="000000"/>
              </a:solidFill>
              <a:latin typeface="Arial"/>
              <a:ea typeface="Arial"/>
              <a:cs typeface="Arial"/>
              <a:sym typeface="Arial"/>
            </a:endParaRPr>
          </a:p>
        </p:txBody>
      </p:sp>
      <p:sp>
        <p:nvSpPr>
          <p:cNvPr id="116" name="Google Shape;116;p14"/>
          <p:cNvSpPr/>
          <p:nvPr/>
        </p:nvSpPr>
        <p:spPr>
          <a:xfrm>
            <a:off x="714525" y="4885175"/>
            <a:ext cx="57000" cy="60960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 name="Google Shape;117;p14"/>
          <p:cNvSpPr txBox="1"/>
          <p:nvPr/>
        </p:nvSpPr>
        <p:spPr>
          <a:xfrm>
            <a:off x="771525" y="581025"/>
            <a:ext cx="11381422" cy="5238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rgbClr val="FFFFFF"/>
                </a:solidFill>
                <a:latin typeface="Merriweather"/>
                <a:ea typeface="Merriweather"/>
                <a:cs typeface="Merriweather"/>
                <a:sym typeface="Merriweather"/>
              </a:rPr>
              <a:t>The Data-to-Action Gap</a:t>
            </a:r>
            <a:endParaRPr b="0" i="0" sz="1400" u="none" cap="none" strike="noStrike">
              <a:solidFill>
                <a:srgbClr val="000000"/>
              </a:solidFill>
              <a:latin typeface="Arial"/>
              <a:ea typeface="Arial"/>
              <a:cs typeface="Arial"/>
              <a:sym typeface="Arial"/>
            </a:endParaRPr>
          </a:p>
        </p:txBody>
      </p:sp>
      <p:sp>
        <p:nvSpPr>
          <p:cNvPr id="118" name="Google Shape;118;p14"/>
          <p:cNvSpPr/>
          <p:nvPr/>
        </p:nvSpPr>
        <p:spPr>
          <a:xfrm>
            <a:off x="581025" y="581025"/>
            <a:ext cx="57150" cy="5238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 name="Google Shape;119;p14"/>
          <p:cNvSpPr txBox="1"/>
          <p:nvPr/>
        </p:nvSpPr>
        <p:spPr>
          <a:xfrm>
            <a:off x="7394331" y="6340935"/>
            <a:ext cx="4230931" cy="517065"/>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050" u="none" cap="none" strike="noStrike">
                <a:solidFill>
                  <a:srgbClr val="A5A5A5"/>
                </a:solidFill>
                <a:latin typeface="Lato"/>
                <a:ea typeface="Lato"/>
                <a:cs typeface="Lato"/>
                <a:sym typeface="Lato"/>
              </a:rPr>
              <a:t>Hassarath, A. (2025). The Data-to-Action Gap: From Noise to Knowledge</a:t>
            </a:r>
            <a:endParaRPr/>
          </a:p>
          <a:p>
            <a:pPr indent="0" lvl="0" marL="0" marR="0" rtl="0" algn="l">
              <a:lnSpc>
                <a:spcPct val="160000"/>
              </a:lnSpc>
              <a:spcBef>
                <a:spcPts val="0"/>
              </a:spcBef>
              <a:spcAft>
                <a:spcPts val="0"/>
              </a:spcAft>
              <a:buClr>
                <a:srgbClr val="000000"/>
              </a:buClr>
              <a:buSzPts val="1050"/>
              <a:buFont typeface="Arial"/>
              <a:buNone/>
            </a:pPr>
            <a:r>
              <a:t/>
            </a:r>
            <a:endParaRPr b="0" i="1" sz="1050" u="none" cap="none" strike="noStrike">
              <a:solidFill>
                <a:schemeClr val="lt1"/>
              </a:solidFill>
              <a:latin typeface="Lato"/>
              <a:ea typeface="Lato"/>
              <a:cs typeface="Lato"/>
              <a:sym typeface="Lato"/>
            </a:endParaRPr>
          </a:p>
        </p:txBody>
      </p:sp>
      <p:pic>
        <p:nvPicPr>
          <p:cNvPr descr="image.png" id="120" name="Google Shape;120;p14"/>
          <p:cNvPicPr preferRelativeResize="0"/>
          <p:nvPr/>
        </p:nvPicPr>
        <p:blipFill rotWithShape="1">
          <a:blip r:embed="rId5">
            <a:alphaModFix/>
          </a:blip>
          <a:srcRect b="0" l="0" r="0" t="0"/>
          <a:stretch/>
        </p:blipFill>
        <p:spPr>
          <a:xfrm>
            <a:off x="6367463" y="700087"/>
            <a:ext cx="5257799" cy="52863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124" name="Shape 124"/>
        <p:cNvGrpSpPr/>
        <p:nvPr/>
      </p:nvGrpSpPr>
      <p:grpSpPr>
        <a:xfrm>
          <a:off x="0" y="0"/>
          <a:ext cx="0" cy="0"/>
          <a:chOff x="0" y="0"/>
          <a:chExt cx="0" cy="0"/>
        </a:xfrm>
      </p:grpSpPr>
      <p:pic>
        <p:nvPicPr>
          <p:cNvPr descr="image.png" id="125" name="Google Shape;125;p15"/>
          <p:cNvPicPr preferRelativeResize="0"/>
          <p:nvPr/>
        </p:nvPicPr>
        <p:blipFill rotWithShape="1">
          <a:blip r:embed="rId3">
            <a:alphaModFix/>
          </a:blip>
          <a:srcRect b="0" l="0" r="0" t="0"/>
          <a:stretch/>
        </p:blipFill>
        <p:spPr>
          <a:xfrm>
            <a:off x="204709" y="3232867"/>
            <a:ext cx="5229225" cy="1183778"/>
          </a:xfrm>
          <a:prstGeom prst="rect">
            <a:avLst/>
          </a:prstGeom>
          <a:noFill/>
          <a:ln>
            <a:noFill/>
          </a:ln>
        </p:spPr>
      </p:pic>
      <p:sp>
        <p:nvSpPr>
          <p:cNvPr id="126" name="Google Shape;126;p15"/>
          <p:cNvSpPr txBox="1"/>
          <p:nvPr/>
        </p:nvSpPr>
        <p:spPr>
          <a:xfrm>
            <a:off x="328760" y="4416645"/>
            <a:ext cx="5137927" cy="161582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500"/>
              <a:buFont typeface="Arial"/>
              <a:buNone/>
            </a:pPr>
            <a:r>
              <a:rPr b="1" i="0" lang="en-US" sz="10500" u="none" cap="none" strike="noStrike">
                <a:solidFill>
                  <a:srgbClr val="38BDF8"/>
                </a:solidFill>
                <a:latin typeface="Merriweather"/>
                <a:ea typeface="Merriweather"/>
                <a:cs typeface="Merriweather"/>
                <a:sym typeface="Merriweather"/>
              </a:rPr>
              <a:t>1.4-3%</a:t>
            </a:r>
            <a:endParaRPr b="0" i="0" sz="1400" u="none" cap="none" strike="noStrike">
              <a:solidFill>
                <a:srgbClr val="000000"/>
              </a:solidFill>
              <a:latin typeface="Arial"/>
              <a:ea typeface="Arial"/>
              <a:cs typeface="Arial"/>
              <a:sym typeface="Arial"/>
            </a:endParaRPr>
          </a:p>
        </p:txBody>
      </p:sp>
      <p:sp>
        <p:nvSpPr>
          <p:cNvPr id="127" name="Google Shape;127;p15"/>
          <p:cNvSpPr txBox="1"/>
          <p:nvPr/>
        </p:nvSpPr>
        <p:spPr>
          <a:xfrm>
            <a:off x="-229325" y="6050142"/>
            <a:ext cx="5229300" cy="3003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950"/>
              <a:buFont typeface="Arial"/>
              <a:buNone/>
            </a:pPr>
            <a:r>
              <a:rPr b="1" i="0" lang="en-US" sz="1950" u="none" cap="none" strike="noStrike">
                <a:solidFill>
                  <a:srgbClr val="FFFFFF"/>
                </a:solidFill>
                <a:latin typeface="Open Sans"/>
                <a:ea typeface="Open Sans"/>
                <a:cs typeface="Open Sans"/>
                <a:sym typeface="Open Sans"/>
              </a:rPr>
              <a:t>Market Median</a:t>
            </a:r>
            <a:endParaRPr b="0" i="0" sz="1400" u="none" cap="none" strike="noStrike">
              <a:solidFill>
                <a:srgbClr val="000000"/>
              </a:solidFill>
              <a:latin typeface="Arial"/>
              <a:ea typeface="Arial"/>
              <a:cs typeface="Arial"/>
              <a:sym typeface="Arial"/>
            </a:endParaRPr>
          </a:p>
        </p:txBody>
      </p:sp>
      <p:sp>
        <p:nvSpPr>
          <p:cNvPr id="128" name="Google Shape;128;p15"/>
          <p:cNvSpPr txBox="1"/>
          <p:nvPr/>
        </p:nvSpPr>
        <p:spPr>
          <a:xfrm>
            <a:off x="525599" y="1060951"/>
            <a:ext cx="5490600"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a:ea typeface="Open Sans"/>
                <a:cs typeface="Open Sans"/>
                <a:sym typeface="Open Sans"/>
              </a:rPr>
              <a:t>The Effectiveness Metric</a:t>
            </a:r>
            <a:endParaRPr b="0" i="0" sz="2000" u="none" cap="none" strike="noStrike">
              <a:solidFill>
                <a:srgbClr val="000000"/>
              </a:solidFill>
              <a:latin typeface="Arial"/>
              <a:ea typeface="Arial"/>
              <a:cs typeface="Arial"/>
              <a:sym typeface="Arial"/>
            </a:endParaRPr>
          </a:p>
        </p:txBody>
      </p:sp>
      <p:pic>
        <p:nvPicPr>
          <p:cNvPr descr="image.png" id="129" name="Google Shape;129;p15"/>
          <p:cNvPicPr preferRelativeResize="0"/>
          <p:nvPr/>
        </p:nvPicPr>
        <p:blipFill rotWithShape="1">
          <a:blip r:embed="rId4">
            <a:alphaModFix/>
          </a:blip>
          <a:srcRect b="0" l="0" r="0" t="0"/>
          <a:stretch/>
        </p:blipFill>
        <p:spPr>
          <a:xfrm>
            <a:off x="204709" y="3500219"/>
            <a:ext cx="4638674" cy="593228"/>
          </a:xfrm>
          <a:prstGeom prst="rect">
            <a:avLst/>
          </a:prstGeom>
          <a:noFill/>
          <a:ln>
            <a:noFill/>
          </a:ln>
        </p:spPr>
      </p:pic>
      <p:sp>
        <p:nvSpPr>
          <p:cNvPr id="130" name="Google Shape;130;p15"/>
          <p:cNvSpPr txBox="1"/>
          <p:nvPr/>
        </p:nvSpPr>
        <p:spPr>
          <a:xfrm>
            <a:off x="717264" y="300289"/>
            <a:ext cx="11381422" cy="5238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rgbClr val="FFFFFF"/>
                </a:solidFill>
                <a:latin typeface="Merriweather"/>
                <a:ea typeface="Merriweather"/>
                <a:cs typeface="Merriweather"/>
                <a:sym typeface="Merriweather"/>
              </a:rPr>
              <a:t>Pillar 1: Conversion Rate (CR)</a:t>
            </a:r>
            <a:endParaRPr b="0" i="0" sz="1400" u="none" cap="none" strike="noStrike">
              <a:solidFill>
                <a:srgbClr val="000000"/>
              </a:solidFill>
              <a:latin typeface="Arial"/>
              <a:ea typeface="Arial"/>
              <a:cs typeface="Arial"/>
              <a:sym typeface="Arial"/>
            </a:endParaRPr>
          </a:p>
        </p:txBody>
      </p:sp>
      <p:sp>
        <p:nvSpPr>
          <p:cNvPr id="131" name="Google Shape;131;p15"/>
          <p:cNvSpPr/>
          <p:nvPr/>
        </p:nvSpPr>
        <p:spPr>
          <a:xfrm>
            <a:off x="597501" y="300288"/>
            <a:ext cx="57150" cy="5238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2" name="Google Shape;132;p15"/>
          <p:cNvSpPr txBox="1"/>
          <p:nvPr/>
        </p:nvSpPr>
        <p:spPr>
          <a:xfrm>
            <a:off x="168356" y="1378825"/>
            <a:ext cx="5693249" cy="1754296"/>
          </a:xfrm>
          <a:prstGeom prst="rect">
            <a:avLst/>
          </a:prstGeom>
          <a:noFill/>
          <a:ln>
            <a:noFill/>
          </a:ln>
        </p:spPr>
        <p:txBody>
          <a:bodyPr anchorCtr="0" anchor="t" bIns="91425" lIns="91425" spcFirstLastPara="1" rIns="91425" wrap="square" tIns="91425">
            <a:spAutoFit/>
          </a:bodyPr>
          <a:lstStyle/>
          <a:p>
            <a:pPr indent="-285750" lvl="0" marL="285750" marR="0" rtl="0" algn="l">
              <a:lnSpc>
                <a:spcPct val="150000"/>
              </a:lnSpc>
              <a:spcBef>
                <a:spcPts val="0"/>
              </a:spcBef>
              <a:spcAft>
                <a:spcPts val="0"/>
              </a:spcAft>
              <a:buClr>
                <a:schemeClr val="lt1"/>
              </a:buClr>
              <a:buSzPts val="1700"/>
              <a:buFont typeface="Courier New"/>
              <a:buChar char="o"/>
            </a:pPr>
            <a:r>
              <a:rPr b="0" i="0" lang="en-US" sz="1700" u="none" cap="none" strike="noStrike">
                <a:solidFill>
                  <a:srgbClr val="94A3B8"/>
                </a:solidFill>
                <a:latin typeface="Lato"/>
                <a:ea typeface="Lato"/>
                <a:cs typeface="Lato"/>
                <a:sym typeface="Lato"/>
              </a:rPr>
              <a:t>Measures how well a business can turn a website visitor into a paying customer. </a:t>
            </a:r>
            <a:endParaRPr/>
          </a:p>
          <a:p>
            <a:pPr indent="-285750" lvl="0" marL="285750" marR="0" rtl="0" algn="l">
              <a:lnSpc>
                <a:spcPct val="150000"/>
              </a:lnSpc>
              <a:spcBef>
                <a:spcPts val="0"/>
              </a:spcBef>
              <a:spcAft>
                <a:spcPts val="0"/>
              </a:spcAft>
              <a:buClr>
                <a:schemeClr val="lt1"/>
              </a:buClr>
              <a:buSzPts val="1700"/>
              <a:buFont typeface="Courier New"/>
              <a:buChar char="o"/>
            </a:pPr>
            <a:r>
              <a:rPr b="0" i="0" lang="en-US" sz="1700" u="none" cap="none" strike="noStrike">
                <a:solidFill>
                  <a:srgbClr val="94A3B8"/>
                </a:solidFill>
                <a:latin typeface="Lato"/>
                <a:ea typeface="Lato"/>
                <a:cs typeface="Lato"/>
                <a:sym typeface="Lato"/>
              </a:rPr>
              <a:t>Measure Store Effectiveness</a:t>
            </a:r>
            <a:endParaRPr/>
          </a:p>
          <a:p>
            <a:pPr indent="-285750" lvl="0" marL="285750" marR="0" rtl="0" algn="l">
              <a:lnSpc>
                <a:spcPct val="150000"/>
              </a:lnSpc>
              <a:spcBef>
                <a:spcPts val="0"/>
              </a:spcBef>
              <a:spcAft>
                <a:spcPts val="0"/>
              </a:spcAft>
              <a:buClr>
                <a:schemeClr val="lt1"/>
              </a:buClr>
              <a:buSzPts val="1700"/>
              <a:buFont typeface="Courier New"/>
              <a:buChar char="o"/>
            </a:pPr>
            <a:r>
              <a:rPr b="0" i="0" lang="en-US" sz="1700" u="none" cap="none" strike="noStrike">
                <a:solidFill>
                  <a:srgbClr val="94A3B8"/>
                </a:solidFill>
                <a:latin typeface="Lato"/>
                <a:ea typeface="Lato"/>
                <a:cs typeface="Lato"/>
                <a:sym typeface="Lato"/>
              </a:rPr>
              <a:t>Affects Return of Investment</a:t>
            </a:r>
            <a:endParaRPr b="0" i="0" sz="1700" u="none" cap="none" strike="noStrike">
              <a:solidFill>
                <a:schemeClr val="dk1"/>
              </a:solidFill>
              <a:latin typeface="Arial"/>
              <a:ea typeface="Arial"/>
              <a:cs typeface="Arial"/>
              <a:sym typeface="Arial"/>
            </a:endParaRPr>
          </a:p>
        </p:txBody>
      </p:sp>
      <p:sp>
        <p:nvSpPr>
          <p:cNvPr id="133" name="Google Shape;133;p15"/>
          <p:cNvSpPr txBox="1"/>
          <p:nvPr/>
        </p:nvSpPr>
        <p:spPr>
          <a:xfrm>
            <a:off x="3070165" y="2983970"/>
            <a:ext cx="112210" cy="92333"/>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600" u="none" cap="none" strike="noStrike">
                <a:solidFill>
                  <a:srgbClr val="000000"/>
                </a:solidFill>
                <a:latin typeface="Roboto"/>
                <a:ea typeface="Roboto"/>
                <a:cs typeface="Roboto"/>
                <a:sym typeface="Roboto"/>
              </a:rPr>
              <a:t>4.0</a:t>
            </a:r>
            <a:endParaRPr/>
          </a:p>
        </p:txBody>
      </p:sp>
      <p:sp>
        <p:nvSpPr>
          <p:cNvPr id="134" name="Google Shape;134;p15"/>
          <p:cNvSpPr txBox="1"/>
          <p:nvPr/>
        </p:nvSpPr>
        <p:spPr>
          <a:xfrm>
            <a:off x="3182310" y="2785996"/>
            <a:ext cx="65" cy="92333"/>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t/>
            </a:r>
            <a:endParaRPr b="1" i="0" sz="600" u="none" cap="none" strike="noStrike">
              <a:solidFill>
                <a:srgbClr val="000000"/>
              </a:solidFill>
              <a:latin typeface="Roboto"/>
              <a:ea typeface="Roboto"/>
              <a:cs typeface="Roboto"/>
              <a:sym typeface="Roboto"/>
            </a:endParaRPr>
          </a:p>
        </p:txBody>
      </p:sp>
      <p:sp>
        <p:nvSpPr>
          <p:cNvPr id="135" name="Google Shape;135;p15"/>
          <p:cNvSpPr txBox="1"/>
          <p:nvPr/>
        </p:nvSpPr>
        <p:spPr>
          <a:xfrm>
            <a:off x="3070165" y="2588022"/>
            <a:ext cx="112210" cy="92333"/>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600" u="none" cap="none" strike="noStrike">
                <a:solidFill>
                  <a:srgbClr val="000000"/>
                </a:solidFill>
                <a:latin typeface="Roboto"/>
                <a:ea typeface="Roboto"/>
                <a:cs typeface="Roboto"/>
                <a:sym typeface="Roboto"/>
              </a:rPr>
              <a:t>5.0</a:t>
            </a:r>
            <a:endParaRPr/>
          </a:p>
        </p:txBody>
      </p:sp>
      <p:sp>
        <p:nvSpPr>
          <p:cNvPr id="136" name="Google Shape;136;p15"/>
          <p:cNvSpPr txBox="1"/>
          <p:nvPr/>
        </p:nvSpPr>
        <p:spPr>
          <a:xfrm>
            <a:off x="3070165" y="2192078"/>
            <a:ext cx="112210" cy="92333"/>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600" u="none" cap="none" strike="noStrike">
                <a:solidFill>
                  <a:srgbClr val="000000"/>
                </a:solidFill>
                <a:latin typeface="Roboto"/>
                <a:ea typeface="Roboto"/>
                <a:cs typeface="Roboto"/>
                <a:sym typeface="Roboto"/>
              </a:rPr>
              <a:t>6.0</a:t>
            </a:r>
            <a:endParaRPr/>
          </a:p>
        </p:txBody>
      </p:sp>
      <p:sp>
        <p:nvSpPr>
          <p:cNvPr id="137" name="Google Shape;137;p15"/>
          <p:cNvSpPr txBox="1"/>
          <p:nvPr/>
        </p:nvSpPr>
        <p:spPr>
          <a:xfrm>
            <a:off x="3070165" y="1796130"/>
            <a:ext cx="112210" cy="92333"/>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600" u="none" cap="none" strike="noStrike">
                <a:solidFill>
                  <a:srgbClr val="000000"/>
                </a:solidFill>
                <a:latin typeface="Roboto"/>
                <a:ea typeface="Roboto"/>
                <a:cs typeface="Roboto"/>
                <a:sym typeface="Roboto"/>
              </a:rPr>
              <a:t>7.0</a:t>
            </a:r>
            <a:endParaRPr/>
          </a:p>
        </p:txBody>
      </p:sp>
      <p:sp>
        <p:nvSpPr>
          <p:cNvPr id="138" name="Google Shape;138;p15"/>
          <p:cNvSpPr txBox="1"/>
          <p:nvPr/>
        </p:nvSpPr>
        <p:spPr>
          <a:xfrm rot="2700000">
            <a:off x="5499971" y="5123655"/>
            <a:ext cx="1163780" cy="9233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600" u="none" cap="none" strike="noStrike">
                <a:solidFill>
                  <a:srgbClr val="000000"/>
                </a:solidFill>
                <a:latin typeface="Roboto"/>
                <a:ea typeface="Roboto"/>
                <a:cs typeface="Roboto"/>
                <a:sym typeface="Roboto"/>
              </a:rPr>
              <a:t>Page Load Improvement (100ms)</a:t>
            </a:r>
            <a:endParaRPr/>
          </a:p>
        </p:txBody>
      </p:sp>
      <p:pic>
        <p:nvPicPr>
          <p:cNvPr id="139" name="Google Shape;139;p15"/>
          <p:cNvPicPr preferRelativeResize="0"/>
          <p:nvPr/>
        </p:nvPicPr>
        <p:blipFill rotWithShape="1">
          <a:blip r:embed="rId5">
            <a:alphaModFix/>
          </a:blip>
          <a:srcRect b="0" l="0" r="0" t="0"/>
          <a:stretch/>
        </p:blipFill>
        <p:spPr>
          <a:xfrm>
            <a:off x="6062347" y="998125"/>
            <a:ext cx="5961297" cy="5303273"/>
          </a:xfrm>
          <a:prstGeom prst="rect">
            <a:avLst/>
          </a:prstGeom>
          <a:noFill/>
          <a:ln>
            <a:noFill/>
          </a:ln>
        </p:spPr>
      </p:pic>
      <p:sp>
        <p:nvSpPr>
          <p:cNvPr id="140" name="Google Shape;140;p15"/>
          <p:cNvSpPr/>
          <p:nvPr/>
        </p:nvSpPr>
        <p:spPr>
          <a:xfrm>
            <a:off x="8116789" y="5799884"/>
            <a:ext cx="342901" cy="437292"/>
          </a:xfrm>
          <a:prstGeom prst="upArrow">
            <a:avLst>
              <a:gd fmla="val 50000" name="adj1"/>
              <a:gd fmla="val 50000" name="adj2"/>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1" name="Google Shape;141;p15"/>
          <p:cNvSpPr txBox="1"/>
          <p:nvPr/>
        </p:nvSpPr>
        <p:spPr>
          <a:xfrm>
            <a:off x="5750334" y="6474922"/>
            <a:ext cx="627331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1000" u="none" cap="none" strike="noStrike">
                <a:solidFill>
                  <a:srgbClr val="7F7F7F"/>
                </a:solidFill>
                <a:latin typeface="Lato"/>
                <a:ea typeface="Lato"/>
                <a:cs typeface="Lato"/>
                <a:sym typeface="Lato"/>
              </a:rPr>
              <a:t>Shopify. (2026, January 7). B2B conversion rate optimization: Strategies, benchmarks and examples (2026)</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145" name="Shape 145"/>
        <p:cNvGrpSpPr/>
        <p:nvPr/>
      </p:nvGrpSpPr>
      <p:grpSpPr>
        <a:xfrm>
          <a:off x="0" y="0"/>
          <a:ext cx="0" cy="0"/>
          <a:chOff x="0" y="0"/>
          <a:chExt cx="0" cy="0"/>
        </a:xfrm>
      </p:grpSpPr>
      <p:pic>
        <p:nvPicPr>
          <p:cNvPr descr="image.png" id="146" name="Google Shape;146;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7" name="Google Shape;147;p16"/>
          <p:cNvPicPr preferRelativeResize="0"/>
          <p:nvPr/>
        </p:nvPicPr>
        <p:blipFill rotWithShape="1">
          <a:blip r:embed="rId4">
            <a:alphaModFix/>
          </a:blip>
          <a:srcRect b="0" l="0" r="0" t="0"/>
          <a:stretch/>
        </p:blipFill>
        <p:spPr>
          <a:xfrm>
            <a:off x="711500" y="4851290"/>
            <a:ext cx="11029950" cy="860970"/>
          </a:xfrm>
          <a:prstGeom prst="rect">
            <a:avLst/>
          </a:prstGeom>
          <a:noFill/>
          <a:ln>
            <a:noFill/>
          </a:ln>
        </p:spPr>
      </p:pic>
      <p:sp>
        <p:nvSpPr>
          <p:cNvPr id="148" name="Google Shape;148;p16"/>
          <p:cNvSpPr txBox="1"/>
          <p:nvPr/>
        </p:nvSpPr>
        <p:spPr>
          <a:xfrm>
            <a:off x="711500" y="4973975"/>
            <a:ext cx="10534800" cy="3078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Clr>
                <a:srgbClr val="000000"/>
              </a:buClr>
              <a:buSzPts val="2000"/>
              <a:buFont typeface="Arial"/>
              <a:buNone/>
            </a:pPr>
            <a:r>
              <a:rPr b="1" i="0" lang="en-US" sz="2000" u="none" cap="none" strike="noStrike">
                <a:solidFill>
                  <a:srgbClr val="FFFFFF"/>
                </a:solidFill>
                <a:latin typeface="Open Sans"/>
                <a:ea typeface="Open Sans"/>
                <a:cs typeface="Open Sans"/>
                <a:sym typeface="Open Sans"/>
              </a:rPr>
              <a:t>Strategy: It’s often cheaper to fix your website than to buy more ads.</a:t>
            </a:r>
            <a:endParaRPr b="0" i="0" sz="1600" u="none" cap="none" strike="noStrike">
              <a:solidFill>
                <a:srgbClr val="000000"/>
              </a:solidFill>
              <a:latin typeface="Arial"/>
              <a:ea typeface="Arial"/>
              <a:cs typeface="Arial"/>
              <a:sym typeface="Arial"/>
            </a:endParaRPr>
          </a:p>
        </p:txBody>
      </p:sp>
      <p:sp>
        <p:nvSpPr>
          <p:cNvPr id="149" name="Google Shape;149;p16"/>
          <p:cNvSpPr txBox="1"/>
          <p:nvPr/>
        </p:nvSpPr>
        <p:spPr>
          <a:xfrm>
            <a:off x="280924" y="2217549"/>
            <a:ext cx="5342225" cy="1477328"/>
          </a:xfrm>
          <a:prstGeom prst="rect">
            <a:avLst/>
          </a:prstGeom>
          <a:noFill/>
          <a:ln>
            <a:noFill/>
          </a:ln>
        </p:spPr>
        <p:txBody>
          <a:bodyPr anchorCtr="0" anchor="t" bIns="0" lIns="0" spcFirstLastPara="1" rIns="0" wrap="square" tIns="0">
            <a:spAutoFit/>
          </a:bodyPr>
          <a:lstStyle/>
          <a:p>
            <a:pPr indent="-342900" lvl="0" marL="342900" marR="0" rtl="0" algn="l">
              <a:lnSpc>
                <a:spcPct val="160000"/>
              </a:lnSpc>
              <a:spcBef>
                <a:spcPts val="0"/>
              </a:spcBef>
              <a:spcAft>
                <a:spcPts val="0"/>
              </a:spcAft>
              <a:buClr>
                <a:schemeClr val="lt1"/>
              </a:buClr>
              <a:buSzPts val="2000"/>
              <a:buFont typeface="Courier New"/>
              <a:buChar char="o"/>
            </a:pPr>
            <a:r>
              <a:rPr b="0" i="0" lang="en-US" sz="2000" u="none" cap="none" strike="noStrike">
                <a:solidFill>
                  <a:srgbClr val="94A3B8"/>
                </a:solidFill>
                <a:latin typeface="Open Sans"/>
                <a:ea typeface="Open Sans"/>
                <a:cs typeface="Open Sans"/>
                <a:sym typeface="Open Sans"/>
              </a:rPr>
              <a:t>Confusing design discourages visitors. </a:t>
            </a:r>
            <a:endParaRPr/>
          </a:p>
          <a:p>
            <a:pPr indent="-342900" lvl="0" marL="342900" marR="0" rtl="0" algn="l">
              <a:lnSpc>
                <a:spcPct val="160000"/>
              </a:lnSpc>
              <a:spcBef>
                <a:spcPts val="0"/>
              </a:spcBef>
              <a:spcAft>
                <a:spcPts val="0"/>
              </a:spcAft>
              <a:buClr>
                <a:schemeClr val="lt1"/>
              </a:buClr>
              <a:buSzPts val="2000"/>
              <a:buFont typeface="Courier New"/>
              <a:buChar char="o"/>
            </a:pPr>
            <a:r>
              <a:rPr b="0" i="0" lang="en-US" sz="2000" u="none" cap="none" strike="noStrike">
                <a:solidFill>
                  <a:srgbClr val="94A3B8"/>
                </a:solidFill>
                <a:latin typeface="Open Sans"/>
                <a:ea typeface="Open Sans"/>
                <a:cs typeface="Open Sans"/>
                <a:sym typeface="Open Sans"/>
              </a:rPr>
              <a:t>Every friction point wastes the expensive ad spend used to bring them in.</a:t>
            </a:r>
            <a:endParaRPr b="0" i="0" sz="2000" u="none" cap="none" strike="noStrike">
              <a:solidFill>
                <a:srgbClr val="000000"/>
              </a:solidFill>
              <a:latin typeface="Arial"/>
              <a:ea typeface="Arial"/>
              <a:cs typeface="Arial"/>
              <a:sym typeface="Arial"/>
            </a:endParaRPr>
          </a:p>
        </p:txBody>
      </p:sp>
      <p:sp>
        <p:nvSpPr>
          <p:cNvPr id="150" name="Google Shape;150;p16"/>
          <p:cNvSpPr txBox="1"/>
          <p:nvPr/>
        </p:nvSpPr>
        <p:spPr>
          <a:xfrm>
            <a:off x="393850" y="3815520"/>
            <a:ext cx="5229300" cy="27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800"/>
              <a:buFont typeface="Arial"/>
              <a:buNone/>
            </a:pPr>
            <a:r>
              <a:rPr b="1" i="0" lang="en-US" sz="1800" u="none" cap="none" strike="noStrike">
                <a:solidFill>
                  <a:srgbClr val="FFFFFF"/>
                </a:solidFill>
                <a:latin typeface="Open Sans"/>
                <a:ea typeface="Open Sans"/>
                <a:cs typeface="Open Sans"/>
                <a:sym typeface="Open Sans"/>
              </a:rPr>
              <a:t>Result: High Bounce &amp; Lost ROI.</a:t>
            </a:r>
            <a:endParaRPr b="0" i="0" sz="1800" u="none" cap="none" strike="noStrike">
              <a:solidFill>
                <a:srgbClr val="000000"/>
              </a:solidFill>
              <a:latin typeface="Arial"/>
              <a:ea typeface="Arial"/>
              <a:cs typeface="Arial"/>
              <a:sym typeface="Arial"/>
            </a:endParaRPr>
          </a:p>
        </p:txBody>
      </p:sp>
      <p:sp>
        <p:nvSpPr>
          <p:cNvPr id="151" name="Google Shape;151;p16"/>
          <p:cNvSpPr txBox="1"/>
          <p:nvPr/>
        </p:nvSpPr>
        <p:spPr>
          <a:xfrm>
            <a:off x="6381750" y="1438275"/>
            <a:ext cx="54906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22C55E"/>
                </a:solidFill>
                <a:latin typeface="Open Sans"/>
                <a:ea typeface="Open Sans"/>
                <a:cs typeface="Open Sans"/>
                <a:sym typeface="Open Sans"/>
              </a:rPr>
              <a:t>Higher CR (Flow)</a:t>
            </a:r>
            <a:endParaRPr b="0" i="0" sz="3000" u="none" cap="none" strike="noStrike">
              <a:solidFill>
                <a:srgbClr val="000000"/>
              </a:solidFill>
              <a:latin typeface="Arial"/>
              <a:ea typeface="Arial"/>
              <a:cs typeface="Arial"/>
              <a:sym typeface="Arial"/>
            </a:endParaRPr>
          </a:p>
        </p:txBody>
      </p:sp>
      <p:sp>
        <p:nvSpPr>
          <p:cNvPr id="152" name="Google Shape;152;p16"/>
          <p:cNvSpPr txBox="1"/>
          <p:nvPr/>
        </p:nvSpPr>
        <p:spPr>
          <a:xfrm>
            <a:off x="6017000" y="2159088"/>
            <a:ext cx="5229300" cy="1477328"/>
          </a:xfrm>
          <a:prstGeom prst="rect">
            <a:avLst/>
          </a:prstGeom>
          <a:noFill/>
          <a:ln>
            <a:noFill/>
          </a:ln>
        </p:spPr>
        <p:txBody>
          <a:bodyPr anchorCtr="0" anchor="t" bIns="0" lIns="0" spcFirstLastPara="1" rIns="0" wrap="square" tIns="0">
            <a:spAutoFit/>
          </a:bodyPr>
          <a:lstStyle/>
          <a:p>
            <a:pPr indent="-342900" lvl="0" marL="342900" marR="0" rtl="0" algn="l">
              <a:lnSpc>
                <a:spcPct val="160000"/>
              </a:lnSpc>
              <a:spcBef>
                <a:spcPts val="0"/>
              </a:spcBef>
              <a:spcAft>
                <a:spcPts val="0"/>
              </a:spcAft>
              <a:buClr>
                <a:schemeClr val="lt1"/>
              </a:buClr>
              <a:buSzPts val="2000"/>
              <a:buFont typeface="Courier New"/>
              <a:buChar char="o"/>
            </a:pPr>
            <a:r>
              <a:rPr b="0" i="0" lang="en-US" sz="2000" u="none" cap="none" strike="noStrike">
                <a:solidFill>
                  <a:srgbClr val="94A3B8"/>
                </a:solidFill>
                <a:latin typeface="Open Sans"/>
                <a:ea typeface="Open Sans"/>
                <a:cs typeface="Open Sans"/>
                <a:sym typeface="Open Sans"/>
              </a:rPr>
              <a:t>Strong, simple design facilitates a seamless purchase journey. </a:t>
            </a:r>
            <a:endParaRPr/>
          </a:p>
          <a:p>
            <a:pPr indent="-342900" lvl="0" marL="342900" marR="0" rtl="0" algn="l">
              <a:lnSpc>
                <a:spcPct val="160000"/>
              </a:lnSpc>
              <a:spcBef>
                <a:spcPts val="0"/>
              </a:spcBef>
              <a:spcAft>
                <a:spcPts val="0"/>
              </a:spcAft>
              <a:buClr>
                <a:schemeClr val="lt1"/>
              </a:buClr>
              <a:buSzPts val="2000"/>
              <a:buFont typeface="Courier New"/>
              <a:buChar char="o"/>
            </a:pPr>
            <a:r>
              <a:rPr b="0" i="0" lang="en-US" sz="2000" u="none" cap="none" strike="noStrike">
                <a:solidFill>
                  <a:srgbClr val="94A3B8"/>
                </a:solidFill>
                <a:latin typeface="Open Sans"/>
                <a:ea typeface="Open Sans"/>
                <a:cs typeface="Open Sans"/>
                <a:sym typeface="Open Sans"/>
              </a:rPr>
              <a:t>It is the "friction finder" for your UX.</a:t>
            </a:r>
            <a:endParaRPr b="0" i="0" sz="2000" u="none" cap="none" strike="noStrike">
              <a:solidFill>
                <a:srgbClr val="000000"/>
              </a:solidFill>
              <a:latin typeface="Arial"/>
              <a:ea typeface="Arial"/>
              <a:cs typeface="Arial"/>
              <a:sym typeface="Arial"/>
            </a:endParaRPr>
          </a:p>
        </p:txBody>
      </p:sp>
      <p:sp>
        <p:nvSpPr>
          <p:cNvPr id="153" name="Google Shape;153;p16"/>
          <p:cNvSpPr txBox="1"/>
          <p:nvPr/>
        </p:nvSpPr>
        <p:spPr>
          <a:xfrm>
            <a:off x="6017000" y="3800220"/>
            <a:ext cx="5229300" cy="292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800"/>
              <a:buFont typeface="Arial"/>
              <a:buNone/>
            </a:pPr>
            <a:r>
              <a:rPr b="1" i="0" lang="en-US" sz="1800" u="none" cap="none" strike="noStrike">
                <a:solidFill>
                  <a:srgbClr val="FFFFFF"/>
                </a:solidFill>
                <a:latin typeface="Open Sans"/>
                <a:ea typeface="Open Sans"/>
                <a:cs typeface="Open Sans"/>
                <a:sym typeface="Open Sans"/>
              </a:rPr>
              <a:t>Result: Efficient </a:t>
            </a:r>
            <a:r>
              <a:rPr b="1" i="0" lang="en-US" sz="1900" u="none" cap="none" strike="noStrike">
                <a:solidFill>
                  <a:srgbClr val="FFFFFF"/>
                </a:solidFill>
                <a:latin typeface="Open Sans"/>
                <a:ea typeface="Open Sans"/>
                <a:cs typeface="Open Sans"/>
                <a:sym typeface="Open Sans"/>
              </a:rPr>
              <a:t>Scaling </a:t>
            </a:r>
            <a:r>
              <a:rPr b="1" i="0" lang="en-US" sz="1800" u="none" cap="none" strike="noStrike">
                <a:solidFill>
                  <a:srgbClr val="FFFFFF"/>
                </a:solidFill>
                <a:latin typeface="Open Sans"/>
                <a:ea typeface="Open Sans"/>
                <a:cs typeface="Open Sans"/>
                <a:sym typeface="Open Sans"/>
              </a:rPr>
              <a:t>&amp; Growth.</a:t>
            </a:r>
            <a:endParaRPr b="0" i="0" sz="1700" u="none" cap="none" strike="noStrike">
              <a:solidFill>
                <a:srgbClr val="000000"/>
              </a:solidFill>
              <a:latin typeface="Arial"/>
              <a:ea typeface="Arial"/>
              <a:cs typeface="Arial"/>
              <a:sym typeface="Arial"/>
            </a:endParaRPr>
          </a:p>
        </p:txBody>
      </p:sp>
      <p:sp>
        <p:nvSpPr>
          <p:cNvPr id="154" name="Google Shape;154;p16"/>
          <p:cNvSpPr txBox="1"/>
          <p:nvPr/>
        </p:nvSpPr>
        <p:spPr>
          <a:xfrm>
            <a:off x="771525" y="581025"/>
            <a:ext cx="11381400" cy="5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rgbClr val="FFFFFF"/>
                </a:solidFill>
                <a:latin typeface="Merriweather"/>
                <a:ea typeface="Merriweather"/>
                <a:cs typeface="Merriweather"/>
                <a:sym typeface="Merriweather"/>
              </a:rPr>
              <a:t>Diagnosing Friction vs. Flow</a:t>
            </a:r>
            <a:endParaRPr b="0" i="0" sz="1400" u="none" cap="none" strike="noStrike">
              <a:solidFill>
                <a:srgbClr val="000000"/>
              </a:solidFill>
              <a:latin typeface="Arial"/>
              <a:ea typeface="Arial"/>
              <a:cs typeface="Arial"/>
              <a:sym typeface="Arial"/>
            </a:endParaRPr>
          </a:p>
        </p:txBody>
      </p:sp>
      <p:sp>
        <p:nvSpPr>
          <p:cNvPr id="155" name="Google Shape;155;p16"/>
          <p:cNvSpPr/>
          <p:nvPr/>
        </p:nvSpPr>
        <p:spPr>
          <a:xfrm>
            <a:off x="581025" y="581025"/>
            <a:ext cx="57300" cy="52380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 name="Google Shape;156;p16"/>
          <p:cNvSpPr txBox="1"/>
          <p:nvPr/>
        </p:nvSpPr>
        <p:spPr>
          <a:xfrm>
            <a:off x="8648700" y="6412259"/>
            <a:ext cx="2962200" cy="240066"/>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975"/>
              <a:buFont typeface="Arial"/>
              <a:buNone/>
            </a:pPr>
            <a:r>
              <a:rPr b="0" i="1" lang="en-US" sz="975" u="none" cap="none" strike="noStrike">
                <a:solidFill>
                  <a:srgbClr val="475569"/>
                </a:solidFill>
                <a:latin typeface="Open Sans"/>
                <a:ea typeface="Open Sans"/>
                <a:cs typeface="Open Sans"/>
                <a:sym typeface="Open Sans"/>
              </a:rPr>
              <a:t> </a:t>
            </a:r>
            <a:r>
              <a:rPr b="0" i="1" lang="en-US" sz="975" u="none" cap="none" strike="noStrike">
                <a:solidFill>
                  <a:srgbClr val="BFBFBF"/>
                </a:solidFill>
                <a:latin typeface="Open Sans"/>
                <a:ea typeface="Open Sans"/>
                <a:cs typeface="Open Sans"/>
                <a:sym typeface="Open Sans"/>
              </a:rPr>
              <a:t>Fessenden, T. (2018). Conversion Rates &amp; UX Friction. </a:t>
            </a:r>
            <a:endParaRPr b="0" i="0" sz="1400" u="none" cap="none" strike="noStrike">
              <a:solidFill>
                <a:srgbClr val="BFBFBF"/>
              </a:solidFill>
              <a:latin typeface="Arial"/>
              <a:ea typeface="Arial"/>
              <a:cs typeface="Arial"/>
              <a:sym typeface="Arial"/>
            </a:endParaRPr>
          </a:p>
        </p:txBody>
      </p:sp>
      <p:sp>
        <p:nvSpPr>
          <p:cNvPr id="157" name="Google Shape;157;p16"/>
          <p:cNvSpPr txBox="1"/>
          <p:nvPr/>
        </p:nvSpPr>
        <p:spPr>
          <a:xfrm>
            <a:off x="411400" y="1494300"/>
            <a:ext cx="4243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EF4444"/>
                </a:solidFill>
                <a:latin typeface="Poppins"/>
                <a:ea typeface="Poppins"/>
                <a:cs typeface="Poppins"/>
                <a:sym typeface="Poppins"/>
              </a:rPr>
              <a:t>Lower CR (Friction)</a:t>
            </a:r>
            <a:endParaRPr b="0" i="0" sz="30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161" name="Shape 161"/>
        <p:cNvGrpSpPr/>
        <p:nvPr/>
      </p:nvGrpSpPr>
      <p:grpSpPr>
        <a:xfrm>
          <a:off x="0" y="0"/>
          <a:ext cx="0" cy="0"/>
          <a:chOff x="0" y="0"/>
          <a:chExt cx="0" cy="0"/>
        </a:xfrm>
      </p:grpSpPr>
      <p:pic>
        <p:nvPicPr>
          <p:cNvPr descr="image.png" id="162" name="Google Shape;162;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3" name="Google Shape;163;p17"/>
          <p:cNvPicPr preferRelativeResize="0"/>
          <p:nvPr/>
        </p:nvPicPr>
        <p:blipFill rotWithShape="1">
          <a:blip r:embed="rId4">
            <a:alphaModFix/>
          </a:blip>
          <a:srcRect b="0" l="0" r="0" t="0"/>
          <a:stretch/>
        </p:blipFill>
        <p:spPr>
          <a:xfrm>
            <a:off x="456987" y="5028530"/>
            <a:ext cx="5276850" cy="1193303"/>
          </a:xfrm>
          <a:prstGeom prst="rect">
            <a:avLst/>
          </a:prstGeom>
          <a:noFill/>
          <a:ln>
            <a:noFill/>
          </a:ln>
        </p:spPr>
      </p:pic>
      <p:sp>
        <p:nvSpPr>
          <p:cNvPr id="164" name="Google Shape;164;p17"/>
          <p:cNvSpPr txBox="1"/>
          <p:nvPr/>
        </p:nvSpPr>
        <p:spPr>
          <a:xfrm>
            <a:off x="555300" y="1117376"/>
            <a:ext cx="5540700" cy="43088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38BDF8"/>
                </a:solidFill>
                <a:latin typeface="Merriweather"/>
                <a:ea typeface="Merriweather"/>
                <a:cs typeface="Merriweather"/>
                <a:sym typeface="Merriweather"/>
              </a:rPr>
              <a:t>The Basket Booster</a:t>
            </a:r>
            <a:endParaRPr b="0" i="0" sz="2800" u="none" cap="none" strike="noStrike">
              <a:solidFill>
                <a:srgbClr val="000000"/>
              </a:solidFill>
              <a:latin typeface="Merriweather"/>
              <a:ea typeface="Merriweather"/>
              <a:cs typeface="Merriweather"/>
              <a:sym typeface="Merriweather"/>
            </a:endParaRPr>
          </a:p>
        </p:txBody>
      </p:sp>
      <p:sp>
        <p:nvSpPr>
          <p:cNvPr id="165" name="Google Shape;165;p17"/>
          <p:cNvSpPr txBox="1"/>
          <p:nvPr/>
        </p:nvSpPr>
        <p:spPr>
          <a:xfrm>
            <a:off x="520562" y="1646341"/>
            <a:ext cx="5764827" cy="1846659"/>
          </a:xfrm>
          <a:prstGeom prst="rect">
            <a:avLst/>
          </a:prstGeom>
          <a:noFill/>
          <a:ln>
            <a:noFill/>
          </a:ln>
        </p:spPr>
        <p:txBody>
          <a:bodyPr anchorCtr="0" anchor="t" bIns="0" lIns="0" spcFirstLastPara="1" rIns="0" wrap="square" tIns="0">
            <a:spAutoFit/>
          </a:bodyPr>
          <a:lstStyle/>
          <a:p>
            <a:pPr indent="-342900" lvl="0" marL="342900" marR="0" rtl="0" algn="l">
              <a:lnSpc>
                <a:spcPct val="150000"/>
              </a:lnSpc>
              <a:spcBef>
                <a:spcPts val="0"/>
              </a:spcBef>
              <a:spcAft>
                <a:spcPts val="0"/>
              </a:spcAft>
              <a:buClr>
                <a:schemeClr val="lt1"/>
              </a:buClr>
              <a:buSzPts val="2000"/>
              <a:buFont typeface="Courier New"/>
              <a:buChar char="o"/>
            </a:pPr>
            <a:r>
              <a:rPr b="0" i="0" lang="en-US" sz="2000" u="none" cap="none" strike="noStrike">
                <a:solidFill>
                  <a:srgbClr val="94A3B8"/>
                </a:solidFill>
                <a:latin typeface="Lato"/>
                <a:ea typeface="Lato"/>
                <a:cs typeface="Lato"/>
                <a:sym typeface="Lato"/>
              </a:rPr>
              <a:t>Measures the average amount a customer spends per order. </a:t>
            </a:r>
            <a:endParaRPr/>
          </a:p>
          <a:p>
            <a:pPr indent="-342900" lvl="0" marL="342900" marR="0" rtl="0" algn="l">
              <a:lnSpc>
                <a:spcPct val="150000"/>
              </a:lnSpc>
              <a:spcBef>
                <a:spcPts val="0"/>
              </a:spcBef>
              <a:spcAft>
                <a:spcPts val="0"/>
              </a:spcAft>
              <a:buClr>
                <a:schemeClr val="lt1"/>
              </a:buClr>
              <a:buSzPts val="2000"/>
              <a:buFont typeface="Courier New"/>
              <a:buChar char="o"/>
            </a:pPr>
            <a:r>
              <a:rPr b="0" i="0" lang="en-US" sz="2000" u="none" cap="none" strike="noStrike">
                <a:solidFill>
                  <a:srgbClr val="94A3B8"/>
                </a:solidFill>
                <a:latin typeface="Lato"/>
                <a:ea typeface="Lato"/>
                <a:cs typeface="Lato"/>
                <a:sym typeface="Lato"/>
              </a:rPr>
              <a:t>AOV is the primary weapon against rising ad costs.</a:t>
            </a:r>
            <a:endParaRPr b="0" i="0" sz="2000" u="none" cap="none" strike="noStrike">
              <a:solidFill>
                <a:srgbClr val="000000"/>
              </a:solidFill>
              <a:latin typeface="Arial"/>
              <a:ea typeface="Arial"/>
              <a:cs typeface="Arial"/>
              <a:sym typeface="Arial"/>
            </a:endParaRPr>
          </a:p>
        </p:txBody>
      </p:sp>
      <p:sp>
        <p:nvSpPr>
          <p:cNvPr id="166" name="Google Shape;166;p17"/>
          <p:cNvSpPr txBox="1"/>
          <p:nvPr/>
        </p:nvSpPr>
        <p:spPr>
          <a:xfrm>
            <a:off x="365910" y="3348259"/>
            <a:ext cx="5730090" cy="1384995"/>
          </a:xfrm>
          <a:prstGeom prst="rect">
            <a:avLst/>
          </a:prstGeom>
          <a:noFill/>
          <a:ln>
            <a:noFill/>
          </a:ln>
        </p:spPr>
        <p:txBody>
          <a:bodyPr anchorCtr="0" anchor="t" bIns="0" lIns="0" spcFirstLastPara="1" rIns="0" wrap="square" tIns="0">
            <a:spAutoFit/>
          </a:bodyPr>
          <a:lstStyle/>
          <a:p>
            <a:pPr indent="-285750" lvl="0" marL="285750" marR="0" rtl="0" algn="l">
              <a:lnSpc>
                <a:spcPct val="150000"/>
              </a:lnSpc>
              <a:spcBef>
                <a:spcPts val="0"/>
              </a:spcBef>
              <a:spcAft>
                <a:spcPts val="0"/>
              </a:spcAft>
              <a:buClr>
                <a:schemeClr val="lt1"/>
              </a:buClr>
              <a:buSzPts val="1800"/>
              <a:buFont typeface="Courier New"/>
              <a:buChar char="o"/>
            </a:pPr>
            <a:r>
              <a:rPr b="0" i="0" lang="en-US" sz="1800" u="none" cap="none" strike="noStrike">
                <a:solidFill>
                  <a:srgbClr val="94A3B8"/>
                </a:solidFill>
                <a:latin typeface="Lato"/>
                <a:ea typeface="Lato"/>
                <a:cs typeface="Lato"/>
                <a:sym typeface="Lato"/>
              </a:rPr>
              <a:t>Often influenced</a:t>
            </a:r>
            <a:r>
              <a:rPr b="0" i="0" lang="en-US" sz="2000" u="none" cap="none" strike="noStrike">
                <a:solidFill>
                  <a:srgbClr val="94A3B8"/>
                </a:solidFill>
                <a:latin typeface="Lato"/>
                <a:ea typeface="Lato"/>
                <a:cs typeface="Lato"/>
                <a:sym typeface="Lato"/>
              </a:rPr>
              <a:t> by bundles, pricing, and upsells. </a:t>
            </a:r>
            <a:endParaRPr/>
          </a:p>
          <a:p>
            <a:pPr indent="-342900" lvl="0" marL="342900" marR="0" rtl="0" algn="l">
              <a:lnSpc>
                <a:spcPct val="150000"/>
              </a:lnSpc>
              <a:spcBef>
                <a:spcPts val="0"/>
              </a:spcBef>
              <a:spcAft>
                <a:spcPts val="0"/>
              </a:spcAft>
              <a:buClr>
                <a:schemeClr val="lt1"/>
              </a:buClr>
              <a:buSzPts val="2000"/>
              <a:buFont typeface="Courier New"/>
              <a:buChar char="o"/>
            </a:pPr>
            <a:r>
              <a:rPr b="0" i="0" lang="en-US" sz="2000" u="none" cap="none" strike="noStrike">
                <a:solidFill>
                  <a:srgbClr val="94A3B8"/>
                </a:solidFill>
                <a:latin typeface="Lato"/>
                <a:ea typeface="Lato"/>
                <a:cs typeface="Lato"/>
                <a:sym typeface="Lato"/>
              </a:rPr>
              <a:t>Increasing AOV earns more from the exact same amount of traffic.</a:t>
            </a:r>
            <a:endParaRPr b="0" i="0" sz="2000" u="none" cap="none" strike="noStrike">
              <a:solidFill>
                <a:srgbClr val="000000"/>
              </a:solidFill>
              <a:latin typeface="Arial"/>
              <a:ea typeface="Arial"/>
              <a:cs typeface="Arial"/>
              <a:sym typeface="Arial"/>
            </a:endParaRPr>
          </a:p>
        </p:txBody>
      </p:sp>
      <p:pic>
        <p:nvPicPr>
          <p:cNvPr descr="image.png" id="167" name="Google Shape;167;p17"/>
          <p:cNvPicPr preferRelativeResize="0"/>
          <p:nvPr/>
        </p:nvPicPr>
        <p:blipFill rotWithShape="1">
          <a:blip r:embed="rId5">
            <a:alphaModFix/>
          </a:blip>
          <a:srcRect b="0" l="0" r="0" t="0"/>
          <a:stretch/>
        </p:blipFill>
        <p:spPr>
          <a:xfrm>
            <a:off x="456987" y="5323804"/>
            <a:ext cx="4686300" cy="602753"/>
          </a:xfrm>
          <a:prstGeom prst="rect">
            <a:avLst/>
          </a:prstGeom>
          <a:noFill/>
          <a:ln>
            <a:noFill/>
          </a:ln>
        </p:spPr>
      </p:pic>
      <p:sp>
        <p:nvSpPr>
          <p:cNvPr id="168" name="Google Shape;168;p17"/>
          <p:cNvSpPr txBox="1"/>
          <p:nvPr/>
        </p:nvSpPr>
        <p:spPr>
          <a:xfrm>
            <a:off x="771525" y="285750"/>
            <a:ext cx="11381400" cy="4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50"/>
              <a:buFont typeface="Arial"/>
              <a:buNone/>
            </a:pPr>
            <a:r>
              <a:rPr b="1" i="0" lang="en-US" sz="3150" u="none" cap="none" strike="noStrike">
                <a:solidFill>
                  <a:srgbClr val="FFFFFF"/>
                </a:solidFill>
                <a:latin typeface="Merriweather"/>
                <a:ea typeface="Merriweather"/>
                <a:cs typeface="Merriweather"/>
                <a:sym typeface="Merriweather"/>
              </a:rPr>
              <a:t>Pillar 2: Average Order Value (AOV)</a:t>
            </a:r>
            <a:endParaRPr b="0" i="0" sz="1400" u="none" cap="none" strike="noStrike">
              <a:solidFill>
                <a:srgbClr val="000000"/>
              </a:solidFill>
              <a:latin typeface="Merriweather"/>
              <a:ea typeface="Merriweather"/>
              <a:cs typeface="Merriweather"/>
              <a:sym typeface="Merriweather"/>
            </a:endParaRPr>
          </a:p>
        </p:txBody>
      </p:sp>
      <p:sp>
        <p:nvSpPr>
          <p:cNvPr id="169" name="Google Shape;169;p17"/>
          <p:cNvSpPr/>
          <p:nvPr/>
        </p:nvSpPr>
        <p:spPr>
          <a:xfrm>
            <a:off x="581025" y="285750"/>
            <a:ext cx="57300" cy="60000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70" name="Google Shape;170;p17"/>
          <p:cNvPicPr preferRelativeResize="0"/>
          <p:nvPr/>
        </p:nvPicPr>
        <p:blipFill rotWithShape="1">
          <a:blip r:embed="rId6">
            <a:alphaModFix/>
          </a:blip>
          <a:srcRect b="13559" l="21067" r="13452" t="16225"/>
          <a:stretch/>
        </p:blipFill>
        <p:spPr>
          <a:xfrm>
            <a:off x="6285389" y="1056300"/>
            <a:ext cx="4675452" cy="5033204"/>
          </a:xfrm>
          <a:prstGeom prst="rect">
            <a:avLst/>
          </a:prstGeom>
          <a:noFill/>
          <a:ln>
            <a:noFill/>
          </a:ln>
        </p:spPr>
      </p:pic>
      <p:sp>
        <p:nvSpPr>
          <p:cNvPr id="171" name="Google Shape;171;p17"/>
          <p:cNvSpPr txBox="1"/>
          <p:nvPr/>
        </p:nvSpPr>
        <p:spPr>
          <a:xfrm>
            <a:off x="6235850" y="6169675"/>
            <a:ext cx="6005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000">
                <a:solidFill>
                  <a:srgbClr val="7F7F7F"/>
                </a:solidFill>
                <a:latin typeface="Lato"/>
                <a:ea typeface="Lato"/>
                <a:cs typeface="Lato"/>
                <a:sym typeface="Lato"/>
              </a:rPr>
              <a:t>Shopify. (2026, January 7). Average order value (AOV): Formula, benchmarks and 7 ways to increase it. </a:t>
            </a:r>
            <a:endParaRPr i="1" sz="1000">
              <a:solidFill>
                <a:srgbClr val="7F7F7F"/>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175" name="Shape 175"/>
        <p:cNvGrpSpPr/>
        <p:nvPr/>
      </p:nvGrpSpPr>
      <p:grpSpPr>
        <a:xfrm>
          <a:off x="0" y="0"/>
          <a:ext cx="0" cy="0"/>
          <a:chOff x="0" y="0"/>
          <a:chExt cx="0" cy="0"/>
        </a:xfrm>
      </p:grpSpPr>
      <p:sp>
        <p:nvSpPr>
          <p:cNvPr id="176" name="Google Shape;176;p18"/>
          <p:cNvSpPr txBox="1"/>
          <p:nvPr/>
        </p:nvSpPr>
        <p:spPr>
          <a:xfrm>
            <a:off x="687486" y="371848"/>
            <a:ext cx="11381422" cy="50783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rgbClr val="FFFFFF"/>
                </a:solidFill>
                <a:latin typeface="Merriweather"/>
                <a:ea typeface="Merriweather"/>
                <a:cs typeface="Merriweather"/>
                <a:sym typeface="Merriweather"/>
              </a:rPr>
              <a:t>The Strategic Impact Of AOV </a:t>
            </a:r>
            <a:endParaRPr b="0" i="0" sz="1400" u="none" cap="none" strike="noStrike">
              <a:solidFill>
                <a:srgbClr val="000000"/>
              </a:solidFill>
              <a:latin typeface="Arial"/>
              <a:ea typeface="Arial"/>
              <a:cs typeface="Arial"/>
              <a:sym typeface="Arial"/>
            </a:endParaRPr>
          </a:p>
        </p:txBody>
      </p:sp>
      <p:sp>
        <p:nvSpPr>
          <p:cNvPr id="177" name="Google Shape;177;p18"/>
          <p:cNvSpPr/>
          <p:nvPr/>
        </p:nvSpPr>
        <p:spPr>
          <a:xfrm>
            <a:off x="493102" y="323891"/>
            <a:ext cx="57150" cy="5238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78" name="Google Shape;178;p18"/>
          <p:cNvPicPr preferRelativeResize="0"/>
          <p:nvPr/>
        </p:nvPicPr>
        <p:blipFill rotWithShape="1">
          <a:blip r:embed="rId3">
            <a:alphaModFix/>
          </a:blip>
          <a:srcRect b="0" l="0" r="0" t="0"/>
          <a:stretch/>
        </p:blipFill>
        <p:spPr>
          <a:xfrm>
            <a:off x="4566138" y="847766"/>
            <a:ext cx="7394950" cy="5521880"/>
          </a:xfrm>
          <a:prstGeom prst="rect">
            <a:avLst/>
          </a:prstGeom>
          <a:noFill/>
          <a:ln>
            <a:noFill/>
          </a:ln>
        </p:spPr>
      </p:pic>
      <p:sp>
        <p:nvSpPr>
          <p:cNvPr id="179" name="Google Shape;179;p18"/>
          <p:cNvSpPr txBox="1"/>
          <p:nvPr/>
        </p:nvSpPr>
        <p:spPr>
          <a:xfrm>
            <a:off x="316523" y="1362808"/>
            <a:ext cx="4026877" cy="4647426"/>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lt1"/>
              </a:buClr>
              <a:buSzPts val="1800"/>
              <a:buFont typeface="Courier New"/>
              <a:buChar char="o"/>
            </a:pPr>
            <a:r>
              <a:rPr b="0" i="0" lang="en-US" sz="1800" u="none" cap="none" strike="noStrike">
                <a:solidFill>
                  <a:schemeClr val="lt1"/>
                </a:solidFill>
                <a:latin typeface="Lato"/>
                <a:ea typeface="Lato"/>
                <a:cs typeface="Lato"/>
                <a:sym typeface="Lato"/>
              </a:rPr>
              <a:t>Product Bundles ( Upselling or Cross-Selling) make customers buy more items or expensive items </a:t>
            </a:r>
            <a:endParaRPr/>
          </a:p>
          <a:p>
            <a:pPr indent="-171450" lvl="0" marL="285750" marR="0" rtl="0" algn="l">
              <a:lnSpc>
                <a:spcPct val="100000"/>
              </a:lnSpc>
              <a:spcBef>
                <a:spcPts val="0"/>
              </a:spcBef>
              <a:spcAft>
                <a:spcPts val="0"/>
              </a:spcAft>
              <a:buClr>
                <a:schemeClr val="lt1"/>
              </a:buClr>
              <a:buSzPts val="1800"/>
              <a:buFont typeface="Courier New"/>
              <a:buNone/>
            </a:pPr>
            <a:r>
              <a:t/>
            </a:r>
            <a:endParaRPr b="0" i="0" sz="1800" u="none" cap="none" strike="noStrike">
              <a:solidFill>
                <a:schemeClr val="lt1"/>
              </a:solidFill>
              <a:latin typeface="Lato"/>
              <a:ea typeface="Lato"/>
              <a:cs typeface="Lato"/>
              <a:sym typeface="Lato"/>
            </a:endParaRPr>
          </a:p>
          <a:p>
            <a:pPr indent="-285750" lvl="0" marL="285750" marR="0" rtl="0" algn="l">
              <a:lnSpc>
                <a:spcPct val="150000"/>
              </a:lnSpc>
              <a:spcBef>
                <a:spcPts val="0"/>
              </a:spcBef>
              <a:spcAft>
                <a:spcPts val="0"/>
              </a:spcAft>
              <a:buClr>
                <a:schemeClr val="lt1"/>
              </a:buClr>
              <a:buSzPts val="1800"/>
              <a:buFont typeface="Courier New"/>
              <a:buChar char="o"/>
            </a:pPr>
            <a:r>
              <a:rPr b="0" i="0" lang="en-US" sz="1800" u="none" cap="none" strike="noStrike">
                <a:solidFill>
                  <a:schemeClr val="lt1"/>
                </a:solidFill>
                <a:latin typeface="Lato"/>
                <a:ea typeface="Lato"/>
                <a:cs typeface="Lato"/>
                <a:sym typeface="Lato"/>
              </a:rPr>
              <a:t>Free Shipping make customers buy more items </a:t>
            </a:r>
            <a:endParaRPr/>
          </a:p>
          <a:p>
            <a:pPr indent="-171450" lvl="0" marL="285750" marR="0" rtl="0" algn="l">
              <a:lnSpc>
                <a:spcPct val="100000"/>
              </a:lnSpc>
              <a:spcBef>
                <a:spcPts val="0"/>
              </a:spcBef>
              <a:spcAft>
                <a:spcPts val="0"/>
              </a:spcAft>
              <a:buClr>
                <a:schemeClr val="lt1"/>
              </a:buClr>
              <a:buSzPts val="1800"/>
              <a:buFont typeface="Courier New"/>
              <a:buNone/>
            </a:pPr>
            <a:r>
              <a:t/>
            </a:r>
            <a:endParaRPr b="0" i="0" sz="1800" u="none" cap="none" strike="noStrike">
              <a:solidFill>
                <a:schemeClr val="lt1"/>
              </a:solidFill>
              <a:latin typeface="Lato"/>
              <a:ea typeface="Lato"/>
              <a:cs typeface="Lato"/>
              <a:sym typeface="Lato"/>
            </a:endParaRPr>
          </a:p>
          <a:p>
            <a:pPr indent="-285750" lvl="0" marL="285750" marR="0" rtl="0" algn="l">
              <a:lnSpc>
                <a:spcPct val="150000"/>
              </a:lnSpc>
              <a:spcBef>
                <a:spcPts val="0"/>
              </a:spcBef>
              <a:spcAft>
                <a:spcPts val="0"/>
              </a:spcAft>
              <a:buClr>
                <a:schemeClr val="lt1"/>
              </a:buClr>
              <a:buSzPts val="1800"/>
              <a:buFont typeface="Courier New"/>
              <a:buChar char="o"/>
            </a:pPr>
            <a:r>
              <a:rPr b="0" i="0" lang="en-US" sz="1800" u="none" cap="none" strike="noStrike">
                <a:solidFill>
                  <a:schemeClr val="lt1"/>
                </a:solidFill>
                <a:latin typeface="Lato"/>
                <a:ea typeface="Lato"/>
                <a:cs typeface="Lato"/>
                <a:sym typeface="Lato"/>
              </a:rPr>
              <a:t>BNPL ( Buy More, Pay Later) increases price flexibility, which increases lower prices and increase customer spending</a:t>
            </a:r>
            <a:r>
              <a:rPr b="0" i="0" lang="en-US" sz="2000" u="none" cap="none" strike="noStrike">
                <a:solidFill>
                  <a:schemeClr val="lt1"/>
                </a:solidFill>
                <a:latin typeface="Lato"/>
                <a:ea typeface="Lato"/>
                <a:cs typeface="Lato"/>
                <a:sym typeface="Lato"/>
              </a:rPr>
              <a:t>. </a:t>
            </a:r>
            <a:endParaRPr/>
          </a:p>
          <a:p>
            <a:pPr indent="-196850" lvl="0" marL="285750" marR="0" rtl="0" algn="l">
              <a:lnSpc>
                <a:spcPct val="100000"/>
              </a:lnSpc>
              <a:spcBef>
                <a:spcPts val="0"/>
              </a:spcBef>
              <a:spcAft>
                <a:spcPts val="0"/>
              </a:spcAft>
              <a:buClr>
                <a:schemeClr val="lt1"/>
              </a:buClr>
              <a:buSzPts val="1400"/>
              <a:buFont typeface="Courier New"/>
              <a:buNone/>
            </a:pPr>
            <a:r>
              <a:t/>
            </a:r>
            <a:endParaRPr b="0" i="0" sz="1400" u="none" cap="none" strike="noStrike">
              <a:solidFill>
                <a:schemeClr val="lt1"/>
              </a:solidFill>
              <a:latin typeface="Arial"/>
              <a:ea typeface="Arial"/>
              <a:cs typeface="Arial"/>
              <a:sym typeface="Arial"/>
            </a:endParaRPr>
          </a:p>
        </p:txBody>
      </p:sp>
      <p:sp>
        <p:nvSpPr>
          <p:cNvPr id="180" name="Google Shape;180;p18"/>
          <p:cNvSpPr txBox="1"/>
          <p:nvPr/>
        </p:nvSpPr>
        <p:spPr>
          <a:xfrm>
            <a:off x="7339783" y="6486152"/>
            <a:ext cx="4621305" cy="2539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50" u="none" cap="none" strike="noStrike">
                <a:solidFill>
                  <a:srgbClr val="7F7F7F"/>
                </a:solidFill>
                <a:latin typeface="Arial"/>
                <a:ea typeface="Arial"/>
                <a:cs typeface="Arial"/>
                <a:sym typeface="Arial"/>
              </a:rPr>
              <a:t>Napkin AI. (2026). </a:t>
            </a:r>
            <a:r>
              <a:rPr b="0" i="1" lang="en-US" sz="1050" u="none" cap="none" strike="noStrike">
                <a:solidFill>
                  <a:srgbClr val="7F7F7F"/>
                </a:solidFill>
                <a:latin typeface="Arial"/>
                <a:ea typeface="Arial"/>
                <a:cs typeface="Arial"/>
                <a:sym typeface="Arial"/>
              </a:rPr>
              <a:t>Average Order Value (AOV) Benchmarks infographic</a:t>
            </a:r>
            <a:r>
              <a:rPr b="0" i="0" lang="en-US" sz="1050" u="none" cap="none" strike="noStrike">
                <a:solidFill>
                  <a:srgbClr val="7F7F7F"/>
                </a:solidFill>
                <a:latin typeface="Arial"/>
                <a:ea typeface="Arial"/>
                <a:cs typeface="Arial"/>
                <a:sym typeface="Arial"/>
              </a:rPr>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184" name="Shape 184"/>
        <p:cNvGrpSpPr/>
        <p:nvPr/>
      </p:nvGrpSpPr>
      <p:grpSpPr>
        <a:xfrm>
          <a:off x="0" y="0"/>
          <a:ext cx="0" cy="0"/>
          <a:chOff x="0" y="0"/>
          <a:chExt cx="0" cy="0"/>
        </a:xfrm>
      </p:grpSpPr>
      <p:pic>
        <p:nvPicPr>
          <p:cNvPr descr="image.png" id="185" name="Google Shape;185;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6" name="Google Shape;186;p19"/>
          <p:cNvSpPr txBox="1"/>
          <p:nvPr/>
        </p:nvSpPr>
        <p:spPr>
          <a:xfrm>
            <a:off x="676513" y="478806"/>
            <a:ext cx="7586954" cy="50783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rgbClr val="FFFFFF"/>
                </a:solidFill>
                <a:latin typeface="Merriweather"/>
                <a:ea typeface="Merriweather"/>
                <a:cs typeface="Merriweather"/>
                <a:sym typeface="Merriweather"/>
              </a:rPr>
              <a:t>Pillar 3: Customer Lifetime Value</a:t>
            </a:r>
            <a:endParaRPr b="0" i="0" sz="1400" u="none" cap="none" strike="noStrike">
              <a:solidFill>
                <a:srgbClr val="000000"/>
              </a:solidFill>
              <a:latin typeface="Arial"/>
              <a:ea typeface="Arial"/>
              <a:cs typeface="Arial"/>
              <a:sym typeface="Arial"/>
            </a:endParaRPr>
          </a:p>
        </p:txBody>
      </p:sp>
      <p:sp>
        <p:nvSpPr>
          <p:cNvPr id="187" name="Google Shape;187;p19"/>
          <p:cNvSpPr/>
          <p:nvPr/>
        </p:nvSpPr>
        <p:spPr>
          <a:xfrm flipH="1">
            <a:off x="581025" y="517277"/>
            <a:ext cx="45719" cy="430888"/>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8" name="Google Shape;188;p19"/>
          <p:cNvSpPr txBox="1"/>
          <p:nvPr/>
        </p:nvSpPr>
        <p:spPr>
          <a:xfrm>
            <a:off x="626744" y="1138760"/>
            <a:ext cx="5190648" cy="43088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FFFFF"/>
                </a:solidFill>
                <a:latin typeface="Open Sans"/>
                <a:ea typeface="Open Sans"/>
                <a:cs typeface="Open Sans"/>
                <a:sym typeface="Open Sans"/>
              </a:rPr>
              <a:t>The Long Game</a:t>
            </a:r>
            <a:endParaRPr b="0" i="0" sz="2800" u="none" cap="none" strike="noStrike">
              <a:solidFill>
                <a:srgbClr val="000000"/>
              </a:solidFill>
              <a:latin typeface="Arial"/>
              <a:ea typeface="Arial"/>
              <a:cs typeface="Arial"/>
              <a:sym typeface="Arial"/>
            </a:endParaRPr>
          </a:p>
        </p:txBody>
      </p:sp>
      <p:sp>
        <p:nvSpPr>
          <p:cNvPr id="189" name="Google Shape;189;p19"/>
          <p:cNvSpPr txBox="1"/>
          <p:nvPr/>
        </p:nvSpPr>
        <p:spPr>
          <a:xfrm>
            <a:off x="456737" y="2114187"/>
            <a:ext cx="4943475" cy="1181862"/>
          </a:xfrm>
          <a:prstGeom prst="rect">
            <a:avLst/>
          </a:prstGeom>
          <a:noFill/>
          <a:ln>
            <a:noFill/>
          </a:ln>
        </p:spPr>
        <p:txBody>
          <a:bodyPr anchorCtr="0" anchor="t" bIns="0" lIns="0" spcFirstLastPara="1" rIns="0" wrap="square" tIns="0">
            <a:spAutoFit/>
          </a:bodyPr>
          <a:lstStyle/>
          <a:p>
            <a:pPr indent="-285750" lvl="0" marL="285750" marR="0" rtl="0" algn="l">
              <a:lnSpc>
                <a:spcPct val="160000"/>
              </a:lnSpc>
              <a:spcBef>
                <a:spcPts val="0"/>
              </a:spcBef>
              <a:spcAft>
                <a:spcPts val="0"/>
              </a:spcAft>
              <a:buClr>
                <a:schemeClr val="lt1"/>
              </a:buClr>
              <a:buSzPts val="1600"/>
              <a:buFont typeface="Courier New"/>
              <a:buChar char="o"/>
            </a:pPr>
            <a:r>
              <a:rPr b="0" i="0" lang="en-US" sz="1600" u="none" cap="none" strike="noStrike">
                <a:solidFill>
                  <a:srgbClr val="94A3B8"/>
                </a:solidFill>
                <a:latin typeface="Open Sans"/>
                <a:ea typeface="Open Sans"/>
                <a:cs typeface="Open Sans"/>
                <a:sym typeface="Open Sans"/>
              </a:rPr>
              <a:t>CLV is the total revenue expected from a customer over their entire shopping lifespan with your brand</a:t>
            </a:r>
            <a:r>
              <a:rPr b="0" i="0" lang="en-US" sz="1500" u="none" cap="none" strike="noStrike">
                <a:solidFill>
                  <a:srgbClr val="94A3B8"/>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90" name="Google Shape;190;p19"/>
          <p:cNvSpPr txBox="1"/>
          <p:nvPr/>
        </p:nvSpPr>
        <p:spPr>
          <a:xfrm>
            <a:off x="367961" y="3341164"/>
            <a:ext cx="4943475" cy="1157240"/>
          </a:xfrm>
          <a:prstGeom prst="rect">
            <a:avLst/>
          </a:prstGeom>
          <a:noFill/>
          <a:ln>
            <a:noFill/>
          </a:ln>
        </p:spPr>
        <p:txBody>
          <a:bodyPr anchorCtr="0" anchor="t" bIns="0" lIns="0" spcFirstLastPara="1" rIns="0" wrap="square" tIns="0">
            <a:spAutoFit/>
          </a:bodyPr>
          <a:lstStyle/>
          <a:p>
            <a:pPr indent="-285750" lvl="0" marL="285750" marR="0" rtl="0" algn="l">
              <a:lnSpc>
                <a:spcPct val="160000"/>
              </a:lnSpc>
              <a:spcBef>
                <a:spcPts val="0"/>
              </a:spcBef>
              <a:spcAft>
                <a:spcPts val="0"/>
              </a:spcAft>
              <a:buClr>
                <a:schemeClr val="lt1"/>
              </a:buClr>
              <a:buSzPts val="1600"/>
              <a:buFont typeface="Courier New"/>
              <a:buChar char="o"/>
            </a:pPr>
            <a:r>
              <a:rPr b="0" i="0" lang="en-US" sz="1600" u="none" cap="none" strike="noStrike">
                <a:solidFill>
                  <a:srgbClr val="94A3B8"/>
                </a:solidFill>
                <a:latin typeface="Open Sans"/>
                <a:ea typeface="Open Sans"/>
                <a:cs typeface="Open Sans"/>
                <a:sym typeface="Open Sans"/>
              </a:rPr>
              <a:t>Predicts long-term profitability and drives retention strategy. </a:t>
            </a:r>
            <a:endParaRPr/>
          </a:p>
          <a:p>
            <a:pPr indent="-285750" lvl="0" marL="285750" marR="0" rtl="0" algn="l">
              <a:lnSpc>
                <a:spcPct val="160000"/>
              </a:lnSpc>
              <a:spcBef>
                <a:spcPts val="0"/>
              </a:spcBef>
              <a:spcAft>
                <a:spcPts val="0"/>
              </a:spcAft>
              <a:buClr>
                <a:schemeClr val="lt1"/>
              </a:buClr>
              <a:buSzPts val="1500"/>
              <a:buFont typeface="Courier New"/>
              <a:buChar char="o"/>
            </a:pPr>
            <a:r>
              <a:rPr b="0" i="0" lang="en-US" sz="1500" u="none" cap="none" strike="noStrike">
                <a:solidFill>
                  <a:srgbClr val="94A3B8"/>
                </a:solidFill>
                <a:latin typeface="Open Sans"/>
                <a:ea typeface="Open Sans"/>
                <a:cs typeface="Open Sans"/>
                <a:sym typeface="Open Sans"/>
              </a:rPr>
              <a:t>Shift focus from "The Sale" to "The Relationship."</a:t>
            </a:r>
            <a:endParaRPr b="0" i="0" sz="1400" u="none" cap="none" strike="noStrike">
              <a:solidFill>
                <a:srgbClr val="000000"/>
              </a:solidFill>
              <a:latin typeface="Arial"/>
              <a:ea typeface="Arial"/>
              <a:cs typeface="Arial"/>
              <a:sym typeface="Arial"/>
            </a:endParaRPr>
          </a:p>
        </p:txBody>
      </p:sp>
      <p:sp>
        <p:nvSpPr>
          <p:cNvPr id="191" name="Google Shape;191;p19"/>
          <p:cNvSpPr txBox="1"/>
          <p:nvPr/>
        </p:nvSpPr>
        <p:spPr>
          <a:xfrm>
            <a:off x="676513" y="4800636"/>
            <a:ext cx="48006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38BDF8"/>
                </a:solidFill>
                <a:latin typeface="Open Sans"/>
                <a:ea typeface="Open Sans"/>
                <a:cs typeface="Open Sans"/>
                <a:sym typeface="Open Sans"/>
              </a:rPr>
              <a:t>Retaining a customer is 5x cheaper than acquiring a new one.</a:t>
            </a:r>
            <a:endParaRPr b="0" i="0" sz="1400" u="none" cap="none" strike="noStrike">
              <a:solidFill>
                <a:srgbClr val="000000"/>
              </a:solidFill>
              <a:latin typeface="Arial"/>
              <a:ea typeface="Arial"/>
              <a:cs typeface="Arial"/>
              <a:sym typeface="Arial"/>
            </a:endParaRPr>
          </a:p>
        </p:txBody>
      </p:sp>
      <p:sp>
        <p:nvSpPr>
          <p:cNvPr id="192" name="Google Shape;192;p19"/>
          <p:cNvSpPr/>
          <p:nvPr/>
        </p:nvSpPr>
        <p:spPr>
          <a:xfrm>
            <a:off x="542925" y="4905104"/>
            <a:ext cx="38100" cy="60960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3" name="Google Shape;193;p19"/>
          <p:cNvSpPr txBox="1"/>
          <p:nvPr/>
        </p:nvSpPr>
        <p:spPr>
          <a:xfrm>
            <a:off x="183092" y="6361184"/>
            <a:ext cx="7682442" cy="45781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000" u="none" cap="none" strike="noStrike">
                <a:solidFill>
                  <a:srgbClr val="7F7F7F"/>
                </a:solidFill>
                <a:latin typeface="Open Sans"/>
                <a:ea typeface="Open Sans"/>
                <a:cs typeface="Open Sans"/>
                <a:sym typeface="Open Sans"/>
              </a:rPr>
              <a:t> </a:t>
            </a:r>
            <a:r>
              <a:rPr b="0" i="1" lang="en-US" sz="1000" u="none" cap="none" strike="noStrike">
                <a:solidFill>
                  <a:srgbClr val="7F7F7F"/>
                </a:solidFill>
                <a:latin typeface="Arial"/>
                <a:ea typeface="Arial"/>
                <a:cs typeface="Arial"/>
                <a:sym typeface="Arial"/>
              </a:rPr>
              <a:t>Valadez, A. (2025, April 4). How to calculate customer lifetime value (CLV) &amp; why it matters. </a:t>
            </a:r>
            <a:endParaRPr/>
          </a:p>
          <a:p>
            <a:pPr indent="0" lvl="0" marL="0" marR="0" rtl="0" algn="l">
              <a:lnSpc>
                <a:spcPct val="100000"/>
              </a:lnSpc>
              <a:spcBef>
                <a:spcPts val="0"/>
              </a:spcBef>
              <a:spcAft>
                <a:spcPts val="0"/>
              </a:spcAft>
              <a:buNone/>
            </a:pPr>
            <a:br>
              <a:rPr b="0" i="0" lang="en-US" sz="1000" u="none" cap="none" strike="noStrike">
                <a:solidFill>
                  <a:srgbClr val="000000"/>
                </a:solidFill>
                <a:latin typeface="Arial"/>
                <a:ea typeface="Arial"/>
                <a:cs typeface="Arial"/>
                <a:sym typeface="Arial"/>
              </a:rPr>
            </a:br>
            <a:r>
              <a:rPr b="0" i="1" lang="en-US" sz="975" u="none" cap="none" strike="noStrike">
                <a:solidFill>
                  <a:srgbClr val="475569"/>
                </a:solidFill>
                <a:latin typeface="Open Sans"/>
                <a:ea typeface="Open Sans"/>
                <a:cs typeface="Open Sans"/>
                <a:sym typeface="Open Sans"/>
              </a:rPr>
              <a:t>. </a:t>
            </a:r>
            <a:endParaRPr b="0" i="0" sz="1400" u="none" cap="none" strike="noStrike">
              <a:solidFill>
                <a:srgbClr val="000000"/>
              </a:solidFill>
              <a:latin typeface="Arial"/>
              <a:ea typeface="Arial"/>
              <a:cs typeface="Arial"/>
              <a:sym typeface="Arial"/>
            </a:endParaRPr>
          </a:p>
        </p:txBody>
      </p:sp>
      <p:pic>
        <p:nvPicPr>
          <p:cNvPr id="194" name="Google Shape;194;p19"/>
          <p:cNvPicPr preferRelativeResize="0"/>
          <p:nvPr/>
        </p:nvPicPr>
        <p:blipFill rotWithShape="1">
          <a:blip r:embed="rId4">
            <a:alphaModFix/>
          </a:blip>
          <a:srcRect b="0" l="0" r="0" t="0"/>
          <a:stretch/>
        </p:blipFill>
        <p:spPr>
          <a:xfrm>
            <a:off x="5938152" y="1052242"/>
            <a:ext cx="5461454" cy="546145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198" name="Shape 198"/>
        <p:cNvGrpSpPr/>
        <p:nvPr/>
      </p:nvGrpSpPr>
      <p:grpSpPr>
        <a:xfrm>
          <a:off x="0" y="0"/>
          <a:ext cx="0" cy="0"/>
          <a:chOff x="0" y="0"/>
          <a:chExt cx="0" cy="0"/>
        </a:xfrm>
      </p:grpSpPr>
      <p:sp>
        <p:nvSpPr>
          <p:cNvPr id="199" name="Google Shape;199;p20"/>
          <p:cNvSpPr txBox="1"/>
          <p:nvPr/>
        </p:nvSpPr>
        <p:spPr>
          <a:xfrm>
            <a:off x="1104899" y="1216014"/>
            <a:ext cx="10506075" cy="16250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2200"/>
              <a:buFont typeface="Arial"/>
              <a:buNone/>
            </a:pPr>
            <a:r>
              <a:rPr b="1" i="0" lang="en-US" sz="2200" u="sng" cap="none" strike="noStrike">
                <a:solidFill>
                  <a:srgbClr val="94A3B8"/>
                </a:solidFill>
                <a:latin typeface="Open Sans"/>
                <a:ea typeface="Open Sans"/>
                <a:cs typeface="Open Sans"/>
                <a:sym typeface="Open Sans"/>
              </a:rPr>
              <a:t>Marketing Budgets</a:t>
            </a:r>
            <a:r>
              <a:rPr b="1" i="0" lang="en-US" sz="2200" u="none" cap="none" strike="noStrike">
                <a:solidFill>
                  <a:srgbClr val="94A3B8"/>
                </a:solidFill>
                <a:latin typeface="Open Sans"/>
                <a:ea typeface="Open Sans"/>
                <a:cs typeface="Open Sans"/>
                <a:sym typeface="Open Sans"/>
              </a:rPr>
              <a:t>:</a:t>
            </a:r>
            <a:r>
              <a:rPr b="0" i="0" lang="en-US" sz="2200" u="none" cap="none" strike="noStrike">
                <a:solidFill>
                  <a:srgbClr val="94A3B8"/>
                </a:solidFill>
                <a:latin typeface="Open Sans"/>
                <a:ea typeface="Open Sans"/>
                <a:cs typeface="Open Sans"/>
                <a:sym typeface="Open Sans"/>
              </a:rPr>
              <a:t> CLV guides exactly how much you can afford to spend on acquisition (Customer Acquisition Cost). </a:t>
            </a:r>
            <a:endParaRPr/>
          </a:p>
          <a:p>
            <a:pPr indent="0" lvl="0" marL="0" marR="0" rtl="0" algn="l">
              <a:lnSpc>
                <a:spcPct val="160000"/>
              </a:lnSpc>
              <a:spcBef>
                <a:spcPts val="0"/>
              </a:spcBef>
              <a:spcAft>
                <a:spcPts val="0"/>
              </a:spcAft>
              <a:buClr>
                <a:srgbClr val="000000"/>
              </a:buClr>
              <a:buSzPts val="2200"/>
              <a:buFont typeface="Arial"/>
              <a:buNone/>
            </a:pPr>
            <a:r>
              <a:rPr b="0" i="0" lang="en-US" sz="2200" u="none" cap="none" strike="noStrike">
                <a:solidFill>
                  <a:srgbClr val="94A3B8"/>
                </a:solidFill>
                <a:latin typeface="Open Sans"/>
                <a:ea typeface="Open Sans"/>
                <a:cs typeface="Open Sans"/>
                <a:sym typeface="Open Sans"/>
              </a:rPr>
              <a:t>If a customer is worth $400 over a year, you can outbid competitors.</a:t>
            </a:r>
            <a:endParaRPr b="0" i="0" sz="2200" u="none" cap="none" strike="noStrike">
              <a:solidFill>
                <a:srgbClr val="000000"/>
              </a:solidFill>
              <a:latin typeface="Arial"/>
              <a:ea typeface="Arial"/>
              <a:cs typeface="Arial"/>
              <a:sym typeface="Arial"/>
            </a:endParaRPr>
          </a:p>
        </p:txBody>
      </p:sp>
      <p:sp>
        <p:nvSpPr>
          <p:cNvPr id="200" name="Google Shape;200;p20"/>
          <p:cNvSpPr txBox="1"/>
          <p:nvPr/>
        </p:nvSpPr>
        <p:spPr>
          <a:xfrm>
            <a:off x="1104898" y="3019915"/>
            <a:ext cx="10506075" cy="118186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2400"/>
              <a:buFont typeface="Arial"/>
              <a:buNone/>
            </a:pPr>
            <a:r>
              <a:rPr b="1" i="0" lang="en-US" sz="2400" u="sng" cap="none" strike="noStrike">
                <a:solidFill>
                  <a:srgbClr val="94A3B8"/>
                </a:solidFill>
                <a:latin typeface="Open Sans"/>
                <a:ea typeface="Open Sans"/>
                <a:cs typeface="Open Sans"/>
                <a:sym typeface="Open Sans"/>
              </a:rPr>
              <a:t>Segmentation</a:t>
            </a:r>
            <a:r>
              <a:rPr b="1" i="0" lang="en-US" sz="2400" u="none" cap="none" strike="noStrike">
                <a:solidFill>
                  <a:srgbClr val="94A3B8"/>
                </a:solidFill>
                <a:latin typeface="Open Sans"/>
                <a:ea typeface="Open Sans"/>
                <a:cs typeface="Open Sans"/>
                <a:sym typeface="Open Sans"/>
              </a:rPr>
              <a:t>:</a:t>
            </a:r>
            <a:r>
              <a:rPr b="0" i="0" lang="en-US" sz="2400" u="none" cap="none" strike="noStrike">
                <a:solidFill>
                  <a:srgbClr val="94A3B8"/>
                </a:solidFill>
                <a:latin typeface="Open Sans"/>
                <a:ea typeface="Open Sans"/>
                <a:cs typeface="Open Sans"/>
                <a:sym typeface="Open Sans"/>
              </a:rPr>
              <a:t> Helps identify the high-value segments that deserve special treatment and unique rewards.</a:t>
            </a:r>
            <a:endParaRPr b="0" i="0" sz="2400" u="none" cap="none" strike="noStrike">
              <a:solidFill>
                <a:srgbClr val="000000"/>
              </a:solidFill>
              <a:latin typeface="Arial"/>
              <a:ea typeface="Arial"/>
              <a:cs typeface="Arial"/>
              <a:sym typeface="Arial"/>
            </a:endParaRPr>
          </a:p>
        </p:txBody>
      </p:sp>
      <p:sp>
        <p:nvSpPr>
          <p:cNvPr id="201" name="Google Shape;201;p20"/>
          <p:cNvSpPr txBox="1"/>
          <p:nvPr/>
        </p:nvSpPr>
        <p:spPr>
          <a:xfrm>
            <a:off x="1027642" y="4420101"/>
            <a:ext cx="10506075" cy="118186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2400"/>
              <a:buFont typeface="Arial"/>
              <a:buNone/>
            </a:pPr>
            <a:r>
              <a:rPr b="1" i="0" lang="en-US" sz="2400" u="sng" cap="none" strike="noStrike">
                <a:solidFill>
                  <a:srgbClr val="94A3B8"/>
                </a:solidFill>
                <a:latin typeface="Open Sans"/>
                <a:ea typeface="Open Sans"/>
                <a:cs typeface="Open Sans"/>
                <a:sym typeface="Open Sans"/>
              </a:rPr>
              <a:t>Business Stability</a:t>
            </a:r>
            <a:r>
              <a:rPr b="1" i="0" lang="en-US" sz="2400" u="none" cap="none" strike="noStrike">
                <a:solidFill>
                  <a:srgbClr val="94A3B8"/>
                </a:solidFill>
                <a:latin typeface="Open Sans"/>
                <a:ea typeface="Open Sans"/>
                <a:cs typeface="Open Sans"/>
                <a:sym typeface="Open Sans"/>
              </a:rPr>
              <a:t>: </a:t>
            </a:r>
            <a:r>
              <a:rPr b="0" i="0" lang="en-US" sz="2400" u="none" cap="none" strike="noStrike">
                <a:solidFill>
                  <a:srgbClr val="94A3B8"/>
                </a:solidFill>
                <a:latin typeface="Open Sans"/>
                <a:ea typeface="Open Sans"/>
                <a:cs typeface="Open Sans"/>
                <a:sym typeface="Open Sans"/>
              </a:rPr>
              <a:t>Supports long-term planning and loyalty. </a:t>
            </a:r>
            <a:endParaRPr/>
          </a:p>
          <a:p>
            <a:pPr indent="0" lvl="0" marL="0" marR="0" rtl="0" algn="l">
              <a:lnSpc>
                <a:spcPct val="160000"/>
              </a:lnSpc>
              <a:spcBef>
                <a:spcPts val="0"/>
              </a:spcBef>
              <a:spcAft>
                <a:spcPts val="0"/>
              </a:spcAft>
              <a:buClr>
                <a:srgbClr val="000000"/>
              </a:buClr>
              <a:buSzPts val="2400"/>
              <a:buFont typeface="Arial"/>
              <a:buNone/>
            </a:pPr>
            <a:r>
              <a:rPr b="0" i="0" lang="en-US" sz="2400" u="none" cap="none" strike="noStrike">
                <a:solidFill>
                  <a:srgbClr val="94A3B8"/>
                </a:solidFill>
                <a:latin typeface="Open Sans"/>
                <a:ea typeface="Open Sans"/>
                <a:cs typeface="Open Sans"/>
                <a:sym typeface="Open Sans"/>
              </a:rPr>
              <a:t> A 5% increase in retention can boost total profits by 25% to 95%. </a:t>
            </a:r>
            <a:endParaRPr b="0" i="0" sz="2400" u="none" cap="none" strike="noStrike">
              <a:solidFill>
                <a:srgbClr val="000000"/>
              </a:solidFill>
              <a:latin typeface="Arial"/>
              <a:ea typeface="Arial"/>
              <a:cs typeface="Arial"/>
              <a:sym typeface="Arial"/>
            </a:endParaRPr>
          </a:p>
        </p:txBody>
      </p:sp>
      <p:pic>
        <p:nvPicPr>
          <p:cNvPr descr="image.png" id="202" name="Google Shape;202;p20"/>
          <p:cNvPicPr preferRelativeResize="0"/>
          <p:nvPr/>
        </p:nvPicPr>
        <p:blipFill rotWithShape="1">
          <a:blip r:embed="rId3">
            <a:alphaModFix/>
          </a:blip>
          <a:srcRect b="0" l="0" r="0" t="0"/>
          <a:stretch/>
        </p:blipFill>
        <p:spPr>
          <a:xfrm>
            <a:off x="730250" y="1387872"/>
            <a:ext cx="247650" cy="295275"/>
          </a:xfrm>
          <a:prstGeom prst="rect">
            <a:avLst/>
          </a:prstGeom>
          <a:noFill/>
          <a:ln>
            <a:noFill/>
          </a:ln>
        </p:spPr>
      </p:pic>
      <p:pic>
        <p:nvPicPr>
          <p:cNvPr descr="image.png" id="203" name="Google Shape;203;p20"/>
          <p:cNvPicPr preferRelativeResize="0"/>
          <p:nvPr/>
        </p:nvPicPr>
        <p:blipFill rotWithShape="1">
          <a:blip r:embed="rId4">
            <a:alphaModFix/>
          </a:blip>
          <a:srcRect b="0" l="0" r="0" t="0"/>
          <a:stretch/>
        </p:blipFill>
        <p:spPr>
          <a:xfrm>
            <a:off x="615950" y="3213628"/>
            <a:ext cx="361950" cy="295275"/>
          </a:xfrm>
          <a:prstGeom prst="rect">
            <a:avLst/>
          </a:prstGeom>
          <a:noFill/>
          <a:ln>
            <a:noFill/>
          </a:ln>
        </p:spPr>
      </p:pic>
      <p:pic>
        <p:nvPicPr>
          <p:cNvPr descr="image.png" id="204" name="Google Shape;204;p20"/>
          <p:cNvPicPr preferRelativeResize="0"/>
          <p:nvPr/>
        </p:nvPicPr>
        <p:blipFill rotWithShape="1">
          <a:blip r:embed="rId5">
            <a:alphaModFix/>
          </a:blip>
          <a:srcRect b="0" l="0" r="0" t="0"/>
          <a:stretch/>
        </p:blipFill>
        <p:spPr>
          <a:xfrm>
            <a:off x="654050" y="4604410"/>
            <a:ext cx="285750" cy="295275"/>
          </a:xfrm>
          <a:prstGeom prst="rect">
            <a:avLst/>
          </a:prstGeom>
          <a:noFill/>
          <a:ln>
            <a:noFill/>
          </a:ln>
        </p:spPr>
      </p:pic>
      <p:sp>
        <p:nvSpPr>
          <p:cNvPr id="205" name="Google Shape;205;p20"/>
          <p:cNvSpPr txBox="1"/>
          <p:nvPr/>
        </p:nvSpPr>
        <p:spPr>
          <a:xfrm>
            <a:off x="771525" y="581025"/>
            <a:ext cx="11381422" cy="5238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rgbClr val="FFFFFF"/>
                </a:solidFill>
                <a:latin typeface="Merriweather"/>
                <a:ea typeface="Merriweather"/>
                <a:cs typeface="Merriweather"/>
                <a:sym typeface="Merriweather"/>
              </a:rPr>
              <a:t>Why CLV Matters</a:t>
            </a:r>
            <a:endParaRPr b="0" i="0" sz="1400" u="none" cap="none" strike="noStrike">
              <a:solidFill>
                <a:srgbClr val="000000"/>
              </a:solidFill>
              <a:latin typeface="Arial"/>
              <a:ea typeface="Arial"/>
              <a:cs typeface="Arial"/>
              <a:sym typeface="Arial"/>
            </a:endParaRPr>
          </a:p>
        </p:txBody>
      </p:sp>
      <p:sp>
        <p:nvSpPr>
          <p:cNvPr id="206" name="Google Shape;206;p20"/>
          <p:cNvSpPr/>
          <p:nvPr/>
        </p:nvSpPr>
        <p:spPr>
          <a:xfrm>
            <a:off x="581025" y="581025"/>
            <a:ext cx="57150" cy="5238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7" name="Google Shape;207;p20"/>
          <p:cNvSpPr txBox="1"/>
          <p:nvPr/>
        </p:nvSpPr>
        <p:spPr>
          <a:xfrm>
            <a:off x="8686000" y="6412250"/>
            <a:ext cx="2925000" cy="16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975"/>
              <a:buFont typeface="Arial"/>
              <a:buNone/>
            </a:pPr>
            <a:r>
              <a:rPr b="0" i="1" lang="en-US" sz="1000" u="none" cap="none" strike="noStrike">
                <a:solidFill>
                  <a:srgbClr val="7F7F7F"/>
                </a:solidFill>
                <a:latin typeface="Open Sans"/>
                <a:ea typeface="Open Sans"/>
                <a:cs typeface="Open Sans"/>
                <a:sym typeface="Open Sans"/>
              </a:rPr>
              <a:t> Bain &amp; Company (2023</a:t>
            </a:r>
            <a:r>
              <a:rPr b="0" i="1" lang="en-US" sz="1100" u="none" cap="none" strike="noStrike">
                <a:solidFill>
                  <a:srgbClr val="7F7F7F"/>
                </a:solidFill>
                <a:latin typeface="Open Sans"/>
                <a:ea typeface="Open Sans"/>
                <a:cs typeface="Open Sans"/>
                <a:sym typeface="Open Sans"/>
              </a:rPr>
              <a:t>).</a:t>
            </a:r>
            <a:r>
              <a:rPr b="0" i="1" lang="en-US" sz="1000" u="none" cap="none" strike="noStrike">
                <a:solidFill>
                  <a:srgbClr val="7F7F7F"/>
                </a:solidFill>
                <a:latin typeface="Open Sans"/>
                <a:ea typeface="Open Sans"/>
                <a:cs typeface="Open Sans"/>
                <a:sym typeface="Open Sans"/>
              </a:rPr>
              <a:t> Value of Loyalty. </a:t>
            </a:r>
            <a:endParaRPr b="0" i="0" sz="1000" u="none" cap="none" strike="noStrike">
              <a:solidFill>
                <a:srgbClr val="7F7F7F"/>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211" name="Shape 211"/>
        <p:cNvGrpSpPr/>
        <p:nvPr/>
      </p:nvGrpSpPr>
      <p:grpSpPr>
        <a:xfrm>
          <a:off x="0" y="0"/>
          <a:ext cx="0" cy="0"/>
          <a:chOff x="0" y="0"/>
          <a:chExt cx="0" cy="0"/>
        </a:xfrm>
      </p:grpSpPr>
      <p:sp>
        <p:nvSpPr>
          <p:cNvPr id="212" name="Google Shape;212;p21"/>
          <p:cNvSpPr txBox="1"/>
          <p:nvPr/>
        </p:nvSpPr>
        <p:spPr>
          <a:xfrm>
            <a:off x="135466" y="6016079"/>
            <a:ext cx="11029950" cy="3961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950"/>
              <a:buFont typeface="Arial"/>
              <a:buNone/>
            </a:pPr>
            <a:r>
              <a:rPr b="1" i="0" lang="en-US" sz="1950" u="none" cap="none" strike="noStrike">
                <a:solidFill>
                  <a:srgbClr val="FFFFFF"/>
                </a:solidFill>
                <a:latin typeface="Open Sans"/>
                <a:ea typeface="Open Sans"/>
                <a:cs typeface="Open Sans"/>
                <a:sym typeface="Open Sans"/>
              </a:rPr>
              <a:t>CR × AOV × CLV = Compounded Revenue Engine</a:t>
            </a:r>
            <a:endParaRPr b="0" i="0" sz="1400" u="none" cap="none" strike="noStrike">
              <a:solidFill>
                <a:srgbClr val="000000"/>
              </a:solidFill>
              <a:latin typeface="Arial"/>
              <a:ea typeface="Arial"/>
              <a:cs typeface="Arial"/>
              <a:sym typeface="Arial"/>
            </a:endParaRPr>
          </a:p>
        </p:txBody>
      </p:sp>
      <p:sp>
        <p:nvSpPr>
          <p:cNvPr id="213" name="Google Shape;213;p21"/>
          <p:cNvSpPr txBox="1"/>
          <p:nvPr/>
        </p:nvSpPr>
        <p:spPr>
          <a:xfrm>
            <a:off x="9772650" y="6412259"/>
            <a:ext cx="18383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975"/>
              <a:buFont typeface="Arial"/>
              <a:buNone/>
            </a:pPr>
            <a:r>
              <a:rPr b="0" i="1" lang="en-US" sz="975" u="none" cap="none" strike="noStrike">
                <a:solidFill>
                  <a:srgbClr val="475569"/>
                </a:solidFill>
                <a:latin typeface="Open Sans"/>
                <a:ea typeface="Open Sans"/>
                <a:cs typeface="Open Sans"/>
                <a:sym typeface="Open Sans"/>
              </a:rPr>
              <a:t> IronLinx (2021). Synergy Models. </a:t>
            </a:r>
            <a:endParaRPr b="0" i="0" sz="1400" u="none" cap="none" strike="noStrike">
              <a:solidFill>
                <a:srgbClr val="000000"/>
              </a:solidFill>
              <a:latin typeface="Arial"/>
              <a:ea typeface="Arial"/>
              <a:cs typeface="Arial"/>
              <a:sym typeface="Arial"/>
            </a:endParaRPr>
          </a:p>
        </p:txBody>
      </p:sp>
      <p:pic>
        <p:nvPicPr>
          <p:cNvPr id="214" name="Google Shape;214;p21"/>
          <p:cNvPicPr preferRelativeResize="0"/>
          <p:nvPr/>
        </p:nvPicPr>
        <p:blipFill rotWithShape="1">
          <a:blip r:embed="rId3">
            <a:alphaModFix/>
          </a:blip>
          <a:srcRect b="0" l="0" r="0" t="0"/>
          <a:stretch/>
        </p:blipFill>
        <p:spPr>
          <a:xfrm>
            <a:off x="2038283" y="278963"/>
            <a:ext cx="7081592" cy="542757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218" name="Shape 218"/>
        <p:cNvGrpSpPr/>
        <p:nvPr/>
      </p:nvGrpSpPr>
      <p:grpSpPr>
        <a:xfrm>
          <a:off x="0" y="0"/>
          <a:ext cx="0" cy="0"/>
          <a:chOff x="0" y="0"/>
          <a:chExt cx="0" cy="0"/>
        </a:xfrm>
      </p:grpSpPr>
      <p:sp>
        <p:nvSpPr>
          <p:cNvPr id="219" name="Google Shape;219;p22"/>
          <p:cNvSpPr txBox="1"/>
          <p:nvPr/>
        </p:nvSpPr>
        <p:spPr>
          <a:xfrm>
            <a:off x="581025" y="6046589"/>
            <a:ext cx="11029950" cy="36567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Clr>
                <a:srgbClr val="000000"/>
              </a:buClr>
              <a:buSzPts val="1800"/>
              <a:buFont typeface="Arial"/>
              <a:buNone/>
            </a:pPr>
            <a:r>
              <a:rPr b="0" i="1" lang="en-US" sz="1800" u="none" cap="none" strike="noStrike">
                <a:solidFill>
                  <a:srgbClr val="38BDF8"/>
                </a:solidFill>
                <a:latin typeface="Open Sans"/>
                <a:ea typeface="Open Sans"/>
                <a:cs typeface="Open Sans"/>
                <a:sym typeface="Open Sans"/>
              </a:rPr>
              <a:t>"Listen to what the data is telling you—it's the only way to find the signal in the noise."</a:t>
            </a:r>
            <a:endParaRPr b="0" i="0" sz="1400" u="none" cap="none" strike="noStrike">
              <a:solidFill>
                <a:srgbClr val="000000"/>
              </a:solidFill>
              <a:latin typeface="Arial"/>
              <a:ea typeface="Arial"/>
              <a:cs typeface="Arial"/>
              <a:sym typeface="Arial"/>
            </a:endParaRPr>
          </a:p>
        </p:txBody>
      </p:sp>
      <p:sp>
        <p:nvSpPr>
          <p:cNvPr id="220" name="Google Shape;220;p22"/>
          <p:cNvSpPr txBox="1"/>
          <p:nvPr/>
        </p:nvSpPr>
        <p:spPr>
          <a:xfrm>
            <a:off x="810578" y="391185"/>
            <a:ext cx="11381422" cy="5238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rgbClr val="FFFFFF"/>
                </a:solidFill>
                <a:latin typeface="Merriweather"/>
                <a:ea typeface="Merriweather"/>
                <a:cs typeface="Merriweather"/>
                <a:sym typeface="Merriweather"/>
              </a:rPr>
              <a:t>Diagnosing the Metrics</a:t>
            </a:r>
            <a:endParaRPr b="0" i="0" sz="1400" u="none" cap="none" strike="noStrike">
              <a:solidFill>
                <a:srgbClr val="000000"/>
              </a:solidFill>
              <a:latin typeface="Arial"/>
              <a:ea typeface="Arial"/>
              <a:cs typeface="Arial"/>
              <a:sym typeface="Arial"/>
            </a:endParaRPr>
          </a:p>
        </p:txBody>
      </p:sp>
      <p:sp>
        <p:nvSpPr>
          <p:cNvPr id="221" name="Google Shape;221;p22"/>
          <p:cNvSpPr/>
          <p:nvPr/>
        </p:nvSpPr>
        <p:spPr>
          <a:xfrm>
            <a:off x="663403" y="339182"/>
            <a:ext cx="57150" cy="5238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2" name="Google Shape;222;p22"/>
          <p:cNvSpPr txBox="1"/>
          <p:nvPr/>
        </p:nvSpPr>
        <p:spPr>
          <a:xfrm>
            <a:off x="9125500" y="6484300"/>
            <a:ext cx="2696700" cy="153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975"/>
              <a:buFont typeface="Arial"/>
              <a:buNone/>
            </a:pPr>
            <a:r>
              <a:rPr b="0" i="1" lang="en-US" sz="1000" u="none" cap="none" strike="noStrike">
                <a:solidFill>
                  <a:srgbClr val="7F7F7F"/>
                </a:solidFill>
                <a:latin typeface="Open Sans"/>
                <a:ea typeface="Open Sans"/>
                <a:cs typeface="Open Sans"/>
                <a:sym typeface="Open Sans"/>
              </a:rPr>
              <a:t> Hassarath, A. (2025). Diagnosing Data. </a:t>
            </a:r>
            <a:endParaRPr b="0" i="0" sz="1000" u="none" cap="none" strike="noStrike">
              <a:solidFill>
                <a:srgbClr val="7F7F7F"/>
              </a:solidFill>
              <a:latin typeface="Arial"/>
              <a:ea typeface="Arial"/>
              <a:cs typeface="Arial"/>
              <a:sym typeface="Arial"/>
            </a:endParaRPr>
          </a:p>
        </p:txBody>
      </p:sp>
      <p:sp>
        <p:nvSpPr>
          <p:cNvPr id="223" name="Google Shape;223;p22"/>
          <p:cNvSpPr/>
          <p:nvPr/>
        </p:nvSpPr>
        <p:spPr>
          <a:xfrm>
            <a:off x="562312" y="1340718"/>
            <a:ext cx="2314033" cy="2975960"/>
          </a:xfrm>
          <a:custGeom>
            <a:rect b="b" l="l" r="r" t="t"/>
            <a:pathLst>
              <a:path extrusionOk="0" h="2484619" w="1364104">
                <a:moveTo>
                  <a:pt x="0" y="0"/>
                </a:moveTo>
                <a:lnTo>
                  <a:pt x="1364104" y="0"/>
                </a:lnTo>
                <a:lnTo>
                  <a:pt x="1364104" y="2484619"/>
                </a:lnTo>
                <a:lnTo>
                  <a:pt x="0" y="2484619"/>
                </a:lnTo>
                <a:lnTo>
                  <a:pt x="0" y="0"/>
                </a:lnTo>
              </a:path>
            </a:pathLst>
          </a:custGeom>
          <a:solidFill>
            <a:srgbClr val="4E88E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4" name="Google Shape;224;p22"/>
          <p:cNvSpPr/>
          <p:nvPr/>
        </p:nvSpPr>
        <p:spPr>
          <a:xfrm>
            <a:off x="562312" y="1351767"/>
            <a:ext cx="2314033" cy="2961419"/>
          </a:xfrm>
          <a:custGeom>
            <a:rect b="b" l="l" r="r" t="t"/>
            <a:pathLst>
              <a:path extrusionOk="0" h="2484619" w="1364104">
                <a:moveTo>
                  <a:pt x="0" y="0"/>
                </a:moveTo>
                <a:lnTo>
                  <a:pt x="1364104" y="0"/>
                </a:lnTo>
                <a:lnTo>
                  <a:pt x="1364104" y="2484619"/>
                </a:lnTo>
                <a:lnTo>
                  <a:pt x="0" y="2484619"/>
                </a:lnTo>
                <a:close/>
              </a:path>
            </a:pathLst>
          </a:custGeom>
          <a:noFill/>
          <a:ln cap="flat" cmpd="sng" w="121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5" name="Google Shape;225;p22"/>
          <p:cNvSpPr/>
          <p:nvPr/>
        </p:nvSpPr>
        <p:spPr>
          <a:xfrm>
            <a:off x="1210279" y="4533088"/>
            <a:ext cx="1007472" cy="1344984"/>
          </a:xfrm>
          <a:custGeom>
            <a:rect b="b" l="l" r="r" t="t"/>
            <a:pathLst>
              <a:path extrusionOk="0" h="1273903" w="867059">
                <a:moveTo>
                  <a:pt x="423067" y="55035"/>
                </a:moveTo>
                <a:cubicBezTo>
                  <a:pt x="428085" y="25057"/>
                  <a:pt x="476486" y="0"/>
                  <a:pt x="501235" y="79109"/>
                </a:cubicBezTo>
                <a:cubicBezTo>
                  <a:pt x="525992" y="158228"/>
                  <a:pt x="514697" y="212646"/>
                  <a:pt x="492336" y="411659"/>
                </a:cubicBezTo>
                <a:cubicBezTo>
                  <a:pt x="491784" y="431276"/>
                  <a:pt x="501868" y="513691"/>
                  <a:pt x="509817" y="579655"/>
                </a:cubicBezTo>
                <a:cubicBezTo>
                  <a:pt x="523597" y="591859"/>
                  <a:pt x="554062" y="621219"/>
                  <a:pt x="565656" y="641007"/>
                </a:cubicBezTo>
                <a:cubicBezTo>
                  <a:pt x="580158" y="665731"/>
                  <a:pt x="574897" y="703001"/>
                  <a:pt x="578396" y="742357"/>
                </a:cubicBezTo>
                <a:cubicBezTo>
                  <a:pt x="587458" y="749047"/>
                  <a:pt x="597599" y="754463"/>
                  <a:pt x="608788" y="758141"/>
                </a:cubicBezTo>
                <a:cubicBezTo>
                  <a:pt x="621203" y="762226"/>
                  <a:pt x="635940" y="756656"/>
                  <a:pt x="644669" y="761251"/>
                </a:cubicBezTo>
                <a:cubicBezTo>
                  <a:pt x="771839" y="662329"/>
                  <a:pt x="867059" y="778254"/>
                  <a:pt x="806007" y="810148"/>
                </a:cubicBezTo>
                <a:cubicBezTo>
                  <a:pt x="550416" y="943692"/>
                  <a:pt x="608780" y="1000522"/>
                  <a:pt x="387949" y="1112151"/>
                </a:cubicBezTo>
                <a:cubicBezTo>
                  <a:pt x="379424" y="1116089"/>
                  <a:pt x="344071" y="1190920"/>
                  <a:pt x="344071" y="1273903"/>
                </a:cubicBezTo>
                <a:lnTo>
                  <a:pt x="0" y="1273903"/>
                </a:lnTo>
                <a:lnTo>
                  <a:pt x="0" y="1266400"/>
                </a:lnTo>
                <a:cubicBezTo>
                  <a:pt x="2565" y="1110592"/>
                  <a:pt x="82528" y="1060274"/>
                  <a:pt x="82528" y="834531"/>
                </a:cubicBezTo>
                <a:cubicBezTo>
                  <a:pt x="82577" y="834020"/>
                  <a:pt x="90152" y="746961"/>
                  <a:pt x="86701" y="718590"/>
                </a:cubicBezTo>
                <a:cubicBezTo>
                  <a:pt x="89998" y="681272"/>
                  <a:pt x="111044" y="620010"/>
                  <a:pt x="167281" y="588708"/>
                </a:cubicBezTo>
                <a:cubicBezTo>
                  <a:pt x="173622" y="569676"/>
                  <a:pt x="226173" y="504093"/>
                  <a:pt x="270027" y="492206"/>
                </a:cubicBezTo>
                <a:cubicBezTo>
                  <a:pt x="302579" y="460507"/>
                  <a:pt x="312542" y="463617"/>
                  <a:pt x="348285" y="454717"/>
                </a:cubicBezTo>
                <a:cubicBezTo>
                  <a:pt x="350217" y="443236"/>
                  <a:pt x="361114" y="403961"/>
                  <a:pt x="363079" y="390889"/>
                </a:cubicBezTo>
                <a:cubicBezTo>
                  <a:pt x="408533" y="233497"/>
                  <a:pt x="413656" y="111288"/>
                  <a:pt x="423067" y="55035"/>
                </a:cubicBezTo>
              </a:path>
            </a:pathLst>
          </a:custGeom>
          <a:solidFill>
            <a:srgbClr val="A3A3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6" name="Google Shape;226;p22"/>
          <p:cNvSpPr/>
          <p:nvPr/>
        </p:nvSpPr>
        <p:spPr>
          <a:xfrm>
            <a:off x="1202002" y="4530841"/>
            <a:ext cx="1007472" cy="1344984"/>
          </a:xfrm>
          <a:custGeom>
            <a:rect b="b" l="l" r="r" t="t"/>
            <a:pathLst>
              <a:path extrusionOk="0" h="1273904" w="867066">
                <a:moveTo>
                  <a:pt x="509821" y="579654"/>
                </a:moveTo>
                <a:cubicBezTo>
                  <a:pt x="523601" y="591861"/>
                  <a:pt x="554061" y="621221"/>
                  <a:pt x="565658" y="641006"/>
                </a:cubicBezTo>
                <a:cubicBezTo>
                  <a:pt x="580156" y="665737"/>
                  <a:pt x="574897" y="703001"/>
                  <a:pt x="578398" y="742358"/>
                </a:cubicBezTo>
                <a:cubicBezTo>
                  <a:pt x="536859" y="711672"/>
                  <a:pt x="501827" y="654227"/>
                  <a:pt x="509236" y="615077"/>
                </a:cubicBezTo>
                <a:cubicBezTo>
                  <a:pt x="511299" y="603823"/>
                  <a:pt x="511294" y="591882"/>
                  <a:pt x="509821" y="579654"/>
                </a:cubicBezTo>
                <a:close/>
                <a:moveTo>
                  <a:pt x="387954" y="1112153"/>
                </a:moveTo>
                <a:cubicBezTo>
                  <a:pt x="608784" y="1000526"/>
                  <a:pt x="550419" y="943693"/>
                  <a:pt x="806008" y="810154"/>
                </a:cubicBezTo>
                <a:cubicBezTo>
                  <a:pt x="867066" y="778253"/>
                  <a:pt x="771838" y="662332"/>
                  <a:pt x="644672" y="761253"/>
                </a:cubicBezTo>
                <a:cubicBezTo>
                  <a:pt x="635940" y="756658"/>
                  <a:pt x="621203" y="762235"/>
                  <a:pt x="608784" y="758150"/>
                </a:cubicBezTo>
                <a:cubicBezTo>
                  <a:pt x="597598" y="754471"/>
                  <a:pt x="587457" y="749051"/>
                  <a:pt x="578398" y="742358"/>
                </a:cubicBezTo>
                <a:cubicBezTo>
                  <a:pt x="536859" y="711672"/>
                  <a:pt x="501827" y="654227"/>
                  <a:pt x="509236" y="615077"/>
                </a:cubicBezTo>
                <a:cubicBezTo>
                  <a:pt x="511299" y="603823"/>
                  <a:pt x="511294" y="591882"/>
                  <a:pt x="509821" y="579654"/>
                </a:cubicBezTo>
                <a:cubicBezTo>
                  <a:pt x="501873" y="513691"/>
                  <a:pt x="491784" y="431275"/>
                  <a:pt x="492333" y="411663"/>
                </a:cubicBezTo>
                <a:cubicBezTo>
                  <a:pt x="514695" y="212645"/>
                  <a:pt x="525993" y="158237"/>
                  <a:pt x="501240" y="79118"/>
                </a:cubicBezTo>
                <a:cubicBezTo>
                  <a:pt x="476487" y="0"/>
                  <a:pt x="428084" y="25056"/>
                  <a:pt x="423069" y="55031"/>
                </a:cubicBezTo>
                <a:cubicBezTo>
                  <a:pt x="413655" y="111289"/>
                  <a:pt x="408533" y="233494"/>
                  <a:pt x="363075" y="390887"/>
                </a:cubicBezTo>
                <a:cubicBezTo>
                  <a:pt x="361109" y="403956"/>
                  <a:pt x="350221" y="443235"/>
                  <a:pt x="348284" y="454721"/>
                </a:cubicBezTo>
                <a:cubicBezTo>
                  <a:pt x="312538" y="463620"/>
                  <a:pt x="302578" y="460508"/>
                  <a:pt x="270028" y="492210"/>
                </a:cubicBezTo>
                <a:cubicBezTo>
                  <a:pt x="226175" y="504092"/>
                  <a:pt x="173623" y="569673"/>
                  <a:pt x="167281" y="588708"/>
                </a:cubicBezTo>
                <a:cubicBezTo>
                  <a:pt x="111041" y="620006"/>
                  <a:pt x="89996" y="681274"/>
                  <a:pt x="86696" y="718595"/>
                </a:cubicBezTo>
                <a:cubicBezTo>
                  <a:pt x="90158" y="747045"/>
                  <a:pt x="82532" y="834534"/>
                  <a:pt x="82532" y="834534"/>
                </a:cubicBezTo>
                <a:cubicBezTo>
                  <a:pt x="82532" y="1063861"/>
                  <a:pt x="0" y="1112153"/>
                  <a:pt x="0" y="1273904"/>
                </a:cubicBezTo>
                <a:lnTo>
                  <a:pt x="344069" y="1273904"/>
                </a:lnTo>
                <a:cubicBezTo>
                  <a:pt x="344069" y="1190914"/>
                  <a:pt x="379430" y="1116076"/>
                  <a:pt x="387954" y="1112153"/>
                </a:cubicBezTo>
                <a:close/>
                <a:moveTo>
                  <a:pt x="430365" y="1000526"/>
                </a:moveTo>
                <a:cubicBezTo>
                  <a:pt x="430365" y="1054966"/>
                  <a:pt x="399912" y="1098232"/>
                  <a:pt x="387954" y="1112153"/>
                </a:cubicBezTo>
                <a:moveTo>
                  <a:pt x="167281" y="588708"/>
                </a:moveTo>
                <a:lnTo>
                  <a:pt x="153480" y="615077"/>
                </a:lnTo>
                <a:moveTo>
                  <a:pt x="348284" y="454721"/>
                </a:moveTo>
                <a:cubicBezTo>
                  <a:pt x="325567" y="474523"/>
                  <a:pt x="326261" y="504706"/>
                  <a:pt x="308211" y="532475"/>
                </a:cubicBezTo>
                <a:moveTo>
                  <a:pt x="270028" y="492210"/>
                </a:moveTo>
                <a:cubicBezTo>
                  <a:pt x="262715" y="504372"/>
                  <a:pt x="246679" y="532978"/>
                  <a:pt x="241044" y="550115"/>
                </a:cubicBezTo>
                <a:moveTo>
                  <a:pt x="703955" y="799047"/>
                </a:moveTo>
                <a:cubicBezTo>
                  <a:pt x="701868" y="791916"/>
                  <a:pt x="671085" y="775151"/>
                  <a:pt x="644672" y="761253"/>
                </a:cubicBezTo>
              </a:path>
            </a:pathLst>
          </a:custGeom>
          <a:noFill/>
          <a:ln cap="flat" cmpd="sng" w="121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7" name="Google Shape;227;p22"/>
          <p:cNvSpPr/>
          <p:nvPr/>
        </p:nvSpPr>
        <p:spPr>
          <a:xfrm>
            <a:off x="3560675" y="1207697"/>
            <a:ext cx="2384501" cy="2930190"/>
          </a:xfrm>
          <a:custGeom>
            <a:rect b="b" l="l" r="r" t="t"/>
            <a:pathLst>
              <a:path extrusionOk="0" h="2289747" w="1364104">
                <a:moveTo>
                  <a:pt x="0" y="0"/>
                </a:moveTo>
                <a:lnTo>
                  <a:pt x="1364104" y="0"/>
                </a:lnTo>
                <a:lnTo>
                  <a:pt x="1364104" y="2289747"/>
                </a:lnTo>
                <a:lnTo>
                  <a:pt x="0" y="2289747"/>
                </a:lnTo>
                <a:lnTo>
                  <a:pt x="0" y="0"/>
                </a:lnTo>
              </a:path>
            </a:pathLst>
          </a:custGeom>
          <a:solidFill>
            <a:srgbClr val="3CC58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8" name="Google Shape;228;p22"/>
          <p:cNvSpPr/>
          <p:nvPr/>
        </p:nvSpPr>
        <p:spPr>
          <a:xfrm>
            <a:off x="3560675" y="1202027"/>
            <a:ext cx="2384501" cy="2930190"/>
          </a:xfrm>
          <a:custGeom>
            <a:rect b="b" l="l" r="r" t="t"/>
            <a:pathLst>
              <a:path extrusionOk="0" h="2289747" w="1364104">
                <a:moveTo>
                  <a:pt x="0" y="0"/>
                </a:moveTo>
                <a:lnTo>
                  <a:pt x="1364104" y="0"/>
                </a:lnTo>
                <a:lnTo>
                  <a:pt x="1364104" y="2289747"/>
                </a:lnTo>
                <a:lnTo>
                  <a:pt x="0" y="2289747"/>
                </a:lnTo>
                <a:close/>
              </a:path>
            </a:pathLst>
          </a:custGeom>
          <a:noFill/>
          <a:ln cap="flat" cmpd="sng" w="121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9" name="Google Shape;229;p22"/>
          <p:cNvSpPr/>
          <p:nvPr/>
        </p:nvSpPr>
        <p:spPr>
          <a:xfrm>
            <a:off x="4474239" y="4477183"/>
            <a:ext cx="656662" cy="1276769"/>
          </a:xfrm>
          <a:custGeom>
            <a:rect b="b" l="l" r="r" t="t"/>
            <a:pathLst>
              <a:path extrusionOk="0" h="1276769" w="656662">
                <a:moveTo>
                  <a:pt x="232539" y="56301"/>
                </a:moveTo>
                <a:cubicBezTo>
                  <a:pt x="230972" y="24505"/>
                  <a:pt x="278090" y="0"/>
                  <a:pt x="315652" y="44771"/>
                </a:cubicBezTo>
                <a:cubicBezTo>
                  <a:pt x="353213" y="89535"/>
                  <a:pt x="346604" y="235316"/>
                  <a:pt x="404367" y="503281"/>
                </a:cubicBezTo>
                <a:cubicBezTo>
                  <a:pt x="415045" y="574978"/>
                  <a:pt x="419145" y="649801"/>
                  <a:pt x="429985" y="700191"/>
                </a:cubicBezTo>
                <a:lnTo>
                  <a:pt x="456642" y="710365"/>
                </a:lnTo>
                <a:cubicBezTo>
                  <a:pt x="474196" y="703317"/>
                  <a:pt x="510272" y="697731"/>
                  <a:pt x="525740" y="589577"/>
                </a:cubicBezTo>
                <a:cubicBezTo>
                  <a:pt x="541208" y="481431"/>
                  <a:pt x="656662" y="448262"/>
                  <a:pt x="634958" y="527323"/>
                </a:cubicBezTo>
                <a:cubicBezTo>
                  <a:pt x="617517" y="590876"/>
                  <a:pt x="623866" y="674127"/>
                  <a:pt x="599110" y="777986"/>
                </a:cubicBezTo>
                <a:cubicBezTo>
                  <a:pt x="567272" y="911595"/>
                  <a:pt x="473920" y="1017476"/>
                  <a:pt x="445956" y="1053413"/>
                </a:cubicBezTo>
                <a:cubicBezTo>
                  <a:pt x="439923" y="1061176"/>
                  <a:pt x="440094" y="1188517"/>
                  <a:pt x="454969" y="1276769"/>
                </a:cubicBezTo>
                <a:lnTo>
                  <a:pt x="130190" y="1276769"/>
                </a:lnTo>
                <a:lnTo>
                  <a:pt x="94220" y="1078933"/>
                </a:lnTo>
                <a:cubicBezTo>
                  <a:pt x="82731" y="1014626"/>
                  <a:pt x="28970" y="932649"/>
                  <a:pt x="7177" y="748520"/>
                </a:cubicBezTo>
                <a:lnTo>
                  <a:pt x="0" y="668841"/>
                </a:lnTo>
                <a:lnTo>
                  <a:pt x="1307" y="664716"/>
                </a:lnTo>
                <a:cubicBezTo>
                  <a:pt x="6471" y="644393"/>
                  <a:pt x="25179" y="594368"/>
                  <a:pt x="45153" y="578364"/>
                </a:cubicBezTo>
                <a:cubicBezTo>
                  <a:pt x="62350" y="564577"/>
                  <a:pt x="60467" y="561816"/>
                  <a:pt x="64194" y="562092"/>
                </a:cubicBezTo>
                <a:cubicBezTo>
                  <a:pt x="69220" y="542678"/>
                  <a:pt x="74798" y="525115"/>
                  <a:pt x="81594" y="514243"/>
                </a:cubicBezTo>
                <a:cubicBezTo>
                  <a:pt x="98775" y="486749"/>
                  <a:pt x="103452" y="473108"/>
                  <a:pt x="134827" y="472353"/>
                </a:cubicBezTo>
                <a:cubicBezTo>
                  <a:pt x="134145" y="482454"/>
                  <a:pt x="133682" y="492847"/>
                  <a:pt x="133284" y="503086"/>
                </a:cubicBezTo>
                <a:lnTo>
                  <a:pt x="134827" y="472378"/>
                </a:lnTo>
                <a:cubicBezTo>
                  <a:pt x="137311" y="435750"/>
                  <a:pt x="146665" y="408760"/>
                  <a:pt x="157586" y="396613"/>
                </a:cubicBezTo>
                <a:cubicBezTo>
                  <a:pt x="189090" y="361577"/>
                  <a:pt x="222349" y="373683"/>
                  <a:pt x="234414" y="389037"/>
                </a:cubicBezTo>
                <a:cubicBezTo>
                  <a:pt x="240455" y="396719"/>
                  <a:pt x="242307" y="406511"/>
                  <a:pt x="244402" y="431617"/>
                </a:cubicBezTo>
                <a:cubicBezTo>
                  <a:pt x="255761" y="260414"/>
                  <a:pt x="235470" y="115965"/>
                  <a:pt x="232539" y="56301"/>
                </a:cubicBezTo>
                <a:moveTo>
                  <a:pt x="247658" y="620334"/>
                </a:moveTo>
                <a:cubicBezTo>
                  <a:pt x="247674" y="619880"/>
                  <a:pt x="247674" y="619417"/>
                  <a:pt x="247690" y="618954"/>
                </a:cubicBezTo>
                <a:cubicBezTo>
                  <a:pt x="247682" y="619165"/>
                  <a:pt x="247690" y="619376"/>
                  <a:pt x="247658" y="619587"/>
                </a:cubicBezTo>
                <a:lnTo>
                  <a:pt x="247658" y="620334"/>
                </a:lnTo>
                <a:moveTo>
                  <a:pt x="247974" y="608163"/>
                </a:moveTo>
                <a:cubicBezTo>
                  <a:pt x="248007" y="606815"/>
                  <a:pt x="248064" y="605443"/>
                  <a:pt x="248096" y="604063"/>
                </a:cubicBezTo>
                <a:cubicBezTo>
                  <a:pt x="248072" y="605159"/>
                  <a:pt x="248007" y="606677"/>
                  <a:pt x="247974" y="608163"/>
                </a:cubicBezTo>
                <a:moveTo>
                  <a:pt x="124352" y="588408"/>
                </a:moveTo>
                <a:cubicBezTo>
                  <a:pt x="124433" y="588302"/>
                  <a:pt x="124507" y="588189"/>
                  <a:pt x="124580" y="588075"/>
                </a:cubicBezTo>
                <a:moveTo>
                  <a:pt x="125781" y="585834"/>
                </a:moveTo>
                <a:cubicBezTo>
                  <a:pt x="125814" y="585769"/>
                  <a:pt x="125830" y="585696"/>
                  <a:pt x="125863" y="585631"/>
                </a:cubicBezTo>
                <a:moveTo>
                  <a:pt x="127543" y="580629"/>
                </a:moveTo>
                <a:lnTo>
                  <a:pt x="128964" y="573581"/>
                </a:lnTo>
                <a:cubicBezTo>
                  <a:pt x="128144" y="578567"/>
                  <a:pt x="127145" y="582659"/>
                  <a:pt x="125863" y="585631"/>
                </a:cubicBezTo>
                <a:lnTo>
                  <a:pt x="127543" y="580629"/>
                </a:lnTo>
                <a:moveTo>
                  <a:pt x="128964" y="573581"/>
                </a:moveTo>
                <a:lnTo>
                  <a:pt x="128964" y="572940"/>
                </a:lnTo>
                <a:cubicBezTo>
                  <a:pt x="129070" y="572964"/>
                  <a:pt x="129013" y="573273"/>
                  <a:pt x="128964" y="573581"/>
                </a:cubicBezTo>
                <a:moveTo>
                  <a:pt x="131148" y="552965"/>
                </a:moveTo>
                <a:cubicBezTo>
                  <a:pt x="131360" y="549880"/>
                  <a:pt x="131546" y="546673"/>
                  <a:pt x="131717" y="543360"/>
                </a:cubicBezTo>
                <a:lnTo>
                  <a:pt x="131717" y="533308"/>
                </a:lnTo>
                <a:lnTo>
                  <a:pt x="131148" y="552965"/>
                </a:lnTo>
              </a:path>
            </a:pathLst>
          </a:custGeom>
          <a:solidFill>
            <a:srgbClr val="A3A3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0" name="Google Shape;230;p22"/>
          <p:cNvSpPr/>
          <p:nvPr/>
        </p:nvSpPr>
        <p:spPr>
          <a:xfrm>
            <a:off x="4474239" y="4471514"/>
            <a:ext cx="656663" cy="1276768"/>
          </a:xfrm>
          <a:custGeom>
            <a:rect b="b" l="l" r="r" t="t"/>
            <a:pathLst>
              <a:path extrusionOk="0" h="1276768" w="656663">
                <a:moveTo>
                  <a:pt x="244398" y="431614"/>
                </a:moveTo>
                <a:cubicBezTo>
                  <a:pt x="245835" y="448900"/>
                  <a:pt x="246865" y="469969"/>
                  <a:pt x="247537" y="492271"/>
                </a:cubicBezTo>
                <a:cubicBezTo>
                  <a:pt x="248475" y="523464"/>
                  <a:pt x="248713" y="557068"/>
                  <a:pt x="248384" y="586102"/>
                </a:cubicBezTo>
                <a:cubicBezTo>
                  <a:pt x="248247" y="598227"/>
                  <a:pt x="248004" y="609555"/>
                  <a:pt x="247679" y="619577"/>
                </a:cubicBezTo>
                <a:cubicBezTo>
                  <a:pt x="247936" y="608645"/>
                  <a:pt x="248196" y="597600"/>
                  <a:pt x="248384" y="586102"/>
                </a:cubicBezTo>
                <a:cubicBezTo>
                  <a:pt x="248830" y="558877"/>
                  <a:pt x="248876" y="529109"/>
                  <a:pt x="247537" y="492271"/>
                </a:cubicBezTo>
                <a:cubicBezTo>
                  <a:pt x="246872" y="473980"/>
                  <a:pt x="245866" y="453945"/>
                  <a:pt x="244398" y="431614"/>
                </a:cubicBezTo>
                <a:close/>
                <a:moveTo>
                  <a:pt x="41174" y="650954"/>
                </a:moveTo>
                <a:lnTo>
                  <a:pt x="38714" y="656599"/>
                </a:lnTo>
                <a:lnTo>
                  <a:pt x="35937" y="661504"/>
                </a:lnTo>
                <a:lnTo>
                  <a:pt x="34332" y="663633"/>
                </a:lnTo>
                <a:lnTo>
                  <a:pt x="32726" y="665260"/>
                </a:lnTo>
                <a:cubicBezTo>
                  <a:pt x="34829" y="663455"/>
                  <a:pt x="36814" y="660488"/>
                  <a:pt x="38714" y="656599"/>
                </a:cubicBezTo>
                <a:cubicBezTo>
                  <a:pt x="41064" y="651788"/>
                  <a:pt x="43284" y="645566"/>
                  <a:pt x="45435" y="638392"/>
                </a:cubicBezTo>
                <a:lnTo>
                  <a:pt x="43367" y="644909"/>
                </a:lnTo>
                <a:close/>
                <a:moveTo>
                  <a:pt x="51011" y="617488"/>
                </a:moveTo>
                <a:lnTo>
                  <a:pt x="57118" y="591448"/>
                </a:lnTo>
                <a:cubicBezTo>
                  <a:pt x="56598" y="593697"/>
                  <a:pt x="56082" y="595939"/>
                  <a:pt x="55567" y="598168"/>
                </a:cubicBezTo>
                <a:cubicBezTo>
                  <a:pt x="54039" y="604784"/>
                  <a:pt x="52529" y="611283"/>
                  <a:pt x="51011" y="617488"/>
                </a:cubicBezTo>
                <a:close/>
                <a:moveTo>
                  <a:pt x="445953" y="1053412"/>
                </a:moveTo>
                <a:cubicBezTo>
                  <a:pt x="473914" y="1017473"/>
                  <a:pt x="567271" y="911589"/>
                  <a:pt x="599113" y="777986"/>
                </a:cubicBezTo>
                <a:cubicBezTo>
                  <a:pt x="623866" y="674126"/>
                  <a:pt x="617509" y="590868"/>
                  <a:pt x="634955" y="527319"/>
                </a:cubicBezTo>
                <a:cubicBezTo>
                  <a:pt x="656663" y="448250"/>
                  <a:pt x="541207" y="481428"/>
                  <a:pt x="525743" y="589578"/>
                </a:cubicBezTo>
                <a:cubicBezTo>
                  <a:pt x="510278" y="697728"/>
                  <a:pt x="474198" y="703313"/>
                  <a:pt x="456644" y="710364"/>
                </a:cubicBezTo>
                <a:lnTo>
                  <a:pt x="429982" y="700191"/>
                </a:lnTo>
                <a:cubicBezTo>
                  <a:pt x="419143" y="649796"/>
                  <a:pt x="415046" y="574975"/>
                  <a:pt x="404366" y="503282"/>
                </a:cubicBezTo>
                <a:cubicBezTo>
                  <a:pt x="346602" y="235309"/>
                  <a:pt x="353210" y="89529"/>
                  <a:pt x="315649" y="44764"/>
                </a:cubicBezTo>
                <a:cubicBezTo>
                  <a:pt x="278089" y="0"/>
                  <a:pt x="230976" y="24496"/>
                  <a:pt x="232540" y="56290"/>
                </a:cubicBezTo>
                <a:cubicBezTo>
                  <a:pt x="235473" y="115959"/>
                  <a:pt x="255757" y="260405"/>
                  <a:pt x="244398" y="431614"/>
                </a:cubicBezTo>
                <a:cubicBezTo>
                  <a:pt x="245835" y="448900"/>
                  <a:pt x="246865" y="469969"/>
                  <a:pt x="247537" y="492271"/>
                </a:cubicBezTo>
                <a:cubicBezTo>
                  <a:pt x="248876" y="529109"/>
                  <a:pt x="248830" y="558877"/>
                  <a:pt x="248384" y="586102"/>
                </a:cubicBezTo>
                <a:cubicBezTo>
                  <a:pt x="248243" y="598532"/>
                  <a:pt x="247999" y="610125"/>
                  <a:pt x="247662" y="620332"/>
                </a:cubicBezTo>
                <a:lnTo>
                  <a:pt x="247679" y="619577"/>
                </a:lnTo>
                <a:cubicBezTo>
                  <a:pt x="247936" y="608645"/>
                  <a:pt x="248196" y="597600"/>
                  <a:pt x="248384" y="586102"/>
                </a:cubicBezTo>
                <a:cubicBezTo>
                  <a:pt x="248713" y="557068"/>
                  <a:pt x="248475" y="523464"/>
                  <a:pt x="247537" y="492271"/>
                </a:cubicBezTo>
                <a:cubicBezTo>
                  <a:pt x="246872" y="473980"/>
                  <a:pt x="245866" y="453945"/>
                  <a:pt x="244398" y="431614"/>
                </a:cubicBezTo>
                <a:cubicBezTo>
                  <a:pt x="242308" y="406502"/>
                  <a:pt x="240452" y="396715"/>
                  <a:pt x="234412" y="389031"/>
                </a:cubicBezTo>
                <a:cubicBezTo>
                  <a:pt x="222346" y="373679"/>
                  <a:pt x="189090" y="361568"/>
                  <a:pt x="157590" y="396602"/>
                </a:cubicBezTo>
                <a:cubicBezTo>
                  <a:pt x="146668" y="408751"/>
                  <a:pt x="137317" y="435742"/>
                  <a:pt x="134832" y="472370"/>
                </a:cubicBezTo>
                <a:lnTo>
                  <a:pt x="133286" y="503078"/>
                </a:lnTo>
                <a:lnTo>
                  <a:pt x="133266" y="503616"/>
                </a:lnTo>
                <a:lnTo>
                  <a:pt x="132981" y="511320"/>
                </a:lnTo>
                <a:cubicBezTo>
                  <a:pt x="132444" y="526271"/>
                  <a:pt x="131985" y="540637"/>
                  <a:pt x="131152" y="552956"/>
                </a:cubicBezTo>
                <a:lnTo>
                  <a:pt x="131122" y="553527"/>
                </a:lnTo>
                <a:lnTo>
                  <a:pt x="131094" y="553796"/>
                </a:lnTo>
                <a:cubicBezTo>
                  <a:pt x="129845" y="571742"/>
                  <a:pt x="127767" y="585203"/>
                  <a:pt x="123423" y="589549"/>
                </a:cubicBezTo>
                <a:lnTo>
                  <a:pt x="124472" y="588262"/>
                </a:lnTo>
                <a:lnTo>
                  <a:pt x="125824" y="585759"/>
                </a:lnTo>
                <a:lnTo>
                  <a:pt x="127544" y="580622"/>
                </a:lnTo>
                <a:lnTo>
                  <a:pt x="129097" y="572928"/>
                </a:lnTo>
                <a:lnTo>
                  <a:pt x="131094" y="553796"/>
                </a:lnTo>
                <a:lnTo>
                  <a:pt x="131152" y="552956"/>
                </a:lnTo>
                <a:lnTo>
                  <a:pt x="132169" y="533300"/>
                </a:lnTo>
                <a:lnTo>
                  <a:pt x="132981" y="511320"/>
                </a:lnTo>
                <a:cubicBezTo>
                  <a:pt x="133073" y="508768"/>
                  <a:pt x="133167" y="506197"/>
                  <a:pt x="133266" y="503616"/>
                </a:cubicBezTo>
                <a:lnTo>
                  <a:pt x="133283" y="503135"/>
                </a:lnTo>
                <a:lnTo>
                  <a:pt x="133286" y="503078"/>
                </a:lnTo>
                <a:cubicBezTo>
                  <a:pt x="133680" y="492837"/>
                  <a:pt x="134149" y="482448"/>
                  <a:pt x="134832" y="472370"/>
                </a:cubicBezTo>
                <a:lnTo>
                  <a:pt x="134834" y="472344"/>
                </a:lnTo>
                <a:cubicBezTo>
                  <a:pt x="103451" y="473100"/>
                  <a:pt x="98775" y="486741"/>
                  <a:pt x="81592" y="514236"/>
                </a:cubicBezTo>
                <a:cubicBezTo>
                  <a:pt x="74798" y="525109"/>
                  <a:pt x="69219" y="542666"/>
                  <a:pt x="64194" y="562081"/>
                </a:cubicBezTo>
                <a:lnTo>
                  <a:pt x="60799" y="575752"/>
                </a:lnTo>
                <a:lnTo>
                  <a:pt x="57118" y="591448"/>
                </a:lnTo>
                <a:cubicBezTo>
                  <a:pt x="58326" y="586223"/>
                  <a:pt x="59548" y="580962"/>
                  <a:pt x="60799" y="575752"/>
                </a:cubicBezTo>
                <a:cubicBezTo>
                  <a:pt x="61906" y="571136"/>
                  <a:pt x="63036" y="566559"/>
                  <a:pt x="64194" y="562081"/>
                </a:cubicBezTo>
                <a:cubicBezTo>
                  <a:pt x="60463" y="561813"/>
                  <a:pt x="62355" y="564572"/>
                  <a:pt x="45152" y="578357"/>
                </a:cubicBezTo>
                <a:cubicBezTo>
                  <a:pt x="25177" y="594364"/>
                  <a:pt x="6470" y="644388"/>
                  <a:pt x="1308" y="664710"/>
                </a:cubicBezTo>
                <a:lnTo>
                  <a:pt x="0" y="668835"/>
                </a:lnTo>
                <a:lnTo>
                  <a:pt x="7173" y="748514"/>
                </a:lnTo>
                <a:cubicBezTo>
                  <a:pt x="28964" y="932649"/>
                  <a:pt x="82735" y="1014626"/>
                  <a:pt x="94220" y="1078930"/>
                </a:cubicBezTo>
                <a:lnTo>
                  <a:pt x="130188" y="1276768"/>
                </a:lnTo>
                <a:lnTo>
                  <a:pt x="454972" y="1276768"/>
                </a:lnTo>
                <a:cubicBezTo>
                  <a:pt x="440100" y="1188514"/>
                  <a:pt x="439918" y="1061170"/>
                  <a:pt x="445953" y="1053412"/>
                </a:cubicBezTo>
                <a:close/>
                <a:moveTo>
                  <a:pt x="38714" y="656599"/>
                </a:moveTo>
                <a:lnTo>
                  <a:pt x="41174" y="650954"/>
                </a:lnTo>
                <a:lnTo>
                  <a:pt x="43367" y="644909"/>
                </a:lnTo>
                <a:lnTo>
                  <a:pt x="45435" y="638392"/>
                </a:lnTo>
                <a:cubicBezTo>
                  <a:pt x="43284" y="645566"/>
                  <a:pt x="41064" y="651788"/>
                  <a:pt x="38714" y="656599"/>
                </a:cubicBezTo>
                <a:cubicBezTo>
                  <a:pt x="36814" y="660488"/>
                  <a:pt x="34829" y="663455"/>
                  <a:pt x="32726" y="665260"/>
                </a:cubicBezTo>
                <a:lnTo>
                  <a:pt x="34332" y="663633"/>
                </a:lnTo>
                <a:lnTo>
                  <a:pt x="35937" y="661504"/>
                </a:lnTo>
                <a:close/>
                <a:moveTo>
                  <a:pt x="458215" y="757839"/>
                </a:moveTo>
                <a:cubicBezTo>
                  <a:pt x="444810" y="750401"/>
                  <a:pt x="436263" y="729398"/>
                  <a:pt x="429982" y="700191"/>
                </a:cubicBezTo>
                <a:moveTo>
                  <a:pt x="247679" y="619577"/>
                </a:moveTo>
                <a:cubicBezTo>
                  <a:pt x="247673" y="619828"/>
                  <a:pt x="247667" y="620080"/>
                  <a:pt x="247662" y="620332"/>
                </a:cubicBezTo>
                <a:moveTo>
                  <a:pt x="81592" y="514236"/>
                </a:moveTo>
                <a:cubicBezTo>
                  <a:pt x="71462" y="530447"/>
                  <a:pt x="64034" y="561516"/>
                  <a:pt x="57118" y="591448"/>
                </a:cubicBezTo>
                <a:moveTo>
                  <a:pt x="45435" y="638392"/>
                </a:moveTo>
                <a:cubicBezTo>
                  <a:pt x="48903" y="626826"/>
                  <a:pt x="52193" y="612781"/>
                  <a:pt x="55567" y="598168"/>
                </a:cubicBezTo>
                <a:cubicBezTo>
                  <a:pt x="48407" y="629172"/>
                  <a:pt x="41627" y="657620"/>
                  <a:pt x="32726" y="665260"/>
                </a:cubicBezTo>
                <a:moveTo>
                  <a:pt x="45435" y="638392"/>
                </a:moveTo>
                <a:cubicBezTo>
                  <a:pt x="47332" y="632063"/>
                  <a:pt x="49177" y="624989"/>
                  <a:pt x="51011" y="617488"/>
                </a:cubicBezTo>
                <a:lnTo>
                  <a:pt x="47396" y="631539"/>
                </a:lnTo>
                <a:close/>
                <a:moveTo>
                  <a:pt x="133286" y="503078"/>
                </a:moveTo>
                <a:cubicBezTo>
                  <a:pt x="133280" y="503258"/>
                  <a:pt x="133273" y="503437"/>
                  <a:pt x="133266" y="503616"/>
                </a:cubicBezTo>
                <a:moveTo>
                  <a:pt x="131152" y="552956"/>
                </a:moveTo>
                <a:cubicBezTo>
                  <a:pt x="131132" y="553237"/>
                  <a:pt x="131114" y="553517"/>
                  <a:pt x="131094" y="553796"/>
                </a:cubicBezTo>
              </a:path>
            </a:pathLst>
          </a:custGeom>
          <a:noFill/>
          <a:ln cap="flat" cmpd="sng" w="121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1" name="Google Shape;231;p22"/>
          <p:cNvSpPr/>
          <p:nvPr/>
        </p:nvSpPr>
        <p:spPr>
          <a:xfrm>
            <a:off x="6743433" y="1303919"/>
            <a:ext cx="2382061" cy="2936554"/>
          </a:xfrm>
          <a:custGeom>
            <a:rect b="b" l="l" r="r" t="t"/>
            <a:pathLst>
              <a:path extrusionOk="0" h="2143593" w="1364104">
                <a:moveTo>
                  <a:pt x="0" y="0"/>
                </a:moveTo>
                <a:lnTo>
                  <a:pt x="1364104" y="0"/>
                </a:lnTo>
                <a:lnTo>
                  <a:pt x="1364104" y="2143593"/>
                </a:lnTo>
                <a:lnTo>
                  <a:pt x="0" y="2143593"/>
                </a:lnTo>
                <a:lnTo>
                  <a:pt x="0" y="0"/>
                </a:lnTo>
              </a:path>
            </a:pathLst>
          </a:custGeom>
          <a:solidFill>
            <a:srgbClr val="DE843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2" name="Google Shape;232;p22"/>
          <p:cNvSpPr/>
          <p:nvPr/>
        </p:nvSpPr>
        <p:spPr>
          <a:xfrm>
            <a:off x="6743433" y="1303919"/>
            <a:ext cx="2382061" cy="2915649"/>
          </a:xfrm>
          <a:custGeom>
            <a:rect b="b" l="l" r="r" t="t"/>
            <a:pathLst>
              <a:path extrusionOk="0" h="2143593" w="1364104">
                <a:moveTo>
                  <a:pt x="0" y="0"/>
                </a:moveTo>
                <a:lnTo>
                  <a:pt x="1364104" y="0"/>
                </a:lnTo>
                <a:lnTo>
                  <a:pt x="1364104" y="2143593"/>
                </a:lnTo>
                <a:lnTo>
                  <a:pt x="0" y="2143593"/>
                </a:lnTo>
                <a:close/>
              </a:path>
            </a:pathLst>
          </a:custGeom>
          <a:noFill/>
          <a:ln cap="flat" cmpd="sng" w="121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3" name="Google Shape;233;p22"/>
          <p:cNvSpPr/>
          <p:nvPr/>
        </p:nvSpPr>
        <p:spPr>
          <a:xfrm>
            <a:off x="7881558" y="4405620"/>
            <a:ext cx="656662" cy="1252110"/>
          </a:xfrm>
          <a:custGeom>
            <a:rect b="b" l="l" r="r" t="t"/>
            <a:pathLst>
              <a:path extrusionOk="0" h="1252110" w="637110">
                <a:moveTo>
                  <a:pt x="241121" y="158520"/>
                </a:moveTo>
                <a:cubicBezTo>
                  <a:pt x="259423" y="0"/>
                  <a:pt x="352710" y="36173"/>
                  <a:pt x="352710" y="83486"/>
                </a:cubicBezTo>
                <a:cubicBezTo>
                  <a:pt x="352710" y="130791"/>
                  <a:pt x="342114" y="159178"/>
                  <a:pt x="342114" y="224590"/>
                </a:cubicBezTo>
                <a:cubicBezTo>
                  <a:pt x="337006" y="305981"/>
                  <a:pt x="332175" y="419900"/>
                  <a:pt x="332175" y="504678"/>
                </a:cubicBezTo>
                <a:cubicBezTo>
                  <a:pt x="372814" y="454839"/>
                  <a:pt x="435758" y="499570"/>
                  <a:pt x="434995" y="540315"/>
                </a:cubicBezTo>
                <a:cubicBezTo>
                  <a:pt x="493335" y="525700"/>
                  <a:pt x="519236" y="572526"/>
                  <a:pt x="529280" y="621593"/>
                </a:cubicBezTo>
                <a:cubicBezTo>
                  <a:pt x="533251" y="621991"/>
                  <a:pt x="551488" y="627650"/>
                  <a:pt x="568433" y="642412"/>
                </a:cubicBezTo>
                <a:cubicBezTo>
                  <a:pt x="588107" y="659552"/>
                  <a:pt x="591574" y="710787"/>
                  <a:pt x="595236" y="729154"/>
                </a:cubicBezTo>
                <a:lnTo>
                  <a:pt x="596260" y="732930"/>
                </a:lnTo>
                <a:cubicBezTo>
                  <a:pt x="596471" y="733141"/>
                  <a:pt x="621049" y="758141"/>
                  <a:pt x="629063" y="803579"/>
                </a:cubicBezTo>
                <a:cubicBezTo>
                  <a:pt x="637110" y="849228"/>
                  <a:pt x="478118" y="1100118"/>
                  <a:pt x="478183" y="1150671"/>
                </a:cubicBezTo>
                <a:cubicBezTo>
                  <a:pt x="478232" y="1179187"/>
                  <a:pt x="469105" y="1197424"/>
                  <a:pt x="473669" y="1252110"/>
                </a:cubicBezTo>
                <a:lnTo>
                  <a:pt x="140957" y="1252110"/>
                </a:lnTo>
                <a:cubicBezTo>
                  <a:pt x="139081" y="1213793"/>
                  <a:pt x="156855" y="1116463"/>
                  <a:pt x="89665" y="1041688"/>
                </a:cubicBezTo>
                <a:cubicBezTo>
                  <a:pt x="22467" y="966923"/>
                  <a:pt x="0" y="807079"/>
                  <a:pt x="990" y="695677"/>
                </a:cubicBezTo>
                <a:cubicBezTo>
                  <a:pt x="1193" y="672958"/>
                  <a:pt x="14128" y="662354"/>
                  <a:pt x="45575" y="639903"/>
                </a:cubicBezTo>
                <a:cubicBezTo>
                  <a:pt x="112595" y="592054"/>
                  <a:pt x="162482" y="562823"/>
                  <a:pt x="162653" y="562725"/>
                </a:cubicBezTo>
                <a:cubicBezTo>
                  <a:pt x="221788" y="360895"/>
                  <a:pt x="211639" y="298560"/>
                  <a:pt x="241121" y="158520"/>
                </a:cubicBezTo>
              </a:path>
            </a:pathLst>
          </a:custGeom>
          <a:solidFill>
            <a:srgbClr val="A3A3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4" name="Google Shape;234;p22"/>
          <p:cNvSpPr/>
          <p:nvPr/>
        </p:nvSpPr>
        <p:spPr>
          <a:xfrm>
            <a:off x="7875511" y="4405620"/>
            <a:ext cx="657160" cy="1252110"/>
          </a:xfrm>
          <a:custGeom>
            <a:rect b="b" l="l" r="r" t="t"/>
            <a:pathLst>
              <a:path extrusionOk="0" h="1252121" w="637123">
                <a:moveTo>
                  <a:pt x="140958" y="1252121"/>
                </a:moveTo>
                <a:cubicBezTo>
                  <a:pt x="139084" y="1213800"/>
                  <a:pt x="156855" y="1116471"/>
                  <a:pt x="89662" y="1041701"/>
                </a:cubicBezTo>
                <a:cubicBezTo>
                  <a:pt x="22470" y="966931"/>
                  <a:pt x="0" y="807084"/>
                  <a:pt x="991" y="695683"/>
                </a:cubicBezTo>
                <a:cubicBezTo>
                  <a:pt x="1193" y="672966"/>
                  <a:pt x="14134" y="662362"/>
                  <a:pt x="45583" y="639908"/>
                </a:cubicBezTo>
                <a:cubicBezTo>
                  <a:pt x="112718" y="591975"/>
                  <a:pt x="162654" y="562730"/>
                  <a:pt x="162654" y="562730"/>
                </a:cubicBezTo>
                <a:cubicBezTo>
                  <a:pt x="221792" y="360896"/>
                  <a:pt x="211641" y="298570"/>
                  <a:pt x="241127" y="158528"/>
                </a:cubicBezTo>
                <a:cubicBezTo>
                  <a:pt x="259426" y="0"/>
                  <a:pt x="352713" y="36186"/>
                  <a:pt x="352713" y="83493"/>
                </a:cubicBezTo>
                <a:cubicBezTo>
                  <a:pt x="352713" y="130802"/>
                  <a:pt x="342111" y="159184"/>
                  <a:pt x="342111" y="224590"/>
                </a:cubicBezTo>
                <a:cubicBezTo>
                  <a:pt x="337011" y="305984"/>
                  <a:pt x="332182" y="419909"/>
                  <a:pt x="332180" y="504682"/>
                </a:cubicBezTo>
                <a:cubicBezTo>
                  <a:pt x="372823" y="454842"/>
                  <a:pt x="435760" y="499576"/>
                  <a:pt x="435001" y="540325"/>
                </a:cubicBezTo>
                <a:lnTo>
                  <a:pt x="435002" y="540302"/>
                </a:lnTo>
                <a:cubicBezTo>
                  <a:pt x="493337" y="525703"/>
                  <a:pt x="519235" y="572537"/>
                  <a:pt x="529282" y="621603"/>
                </a:cubicBezTo>
                <a:cubicBezTo>
                  <a:pt x="533244" y="621998"/>
                  <a:pt x="551488" y="627655"/>
                  <a:pt x="568433" y="642417"/>
                </a:cubicBezTo>
                <a:cubicBezTo>
                  <a:pt x="588111" y="659557"/>
                  <a:pt x="591581" y="710794"/>
                  <a:pt x="595244" y="729164"/>
                </a:cubicBezTo>
                <a:lnTo>
                  <a:pt x="596263" y="732937"/>
                </a:lnTo>
                <a:cubicBezTo>
                  <a:pt x="596263" y="732937"/>
                  <a:pt x="621016" y="757947"/>
                  <a:pt x="629069" y="803586"/>
                </a:cubicBezTo>
                <a:cubicBezTo>
                  <a:pt x="637123" y="849223"/>
                  <a:pt x="478114" y="1100134"/>
                  <a:pt x="478189" y="1150682"/>
                </a:cubicBezTo>
                <a:cubicBezTo>
                  <a:pt x="478230" y="1179197"/>
                  <a:pt x="469115" y="1197428"/>
                  <a:pt x="473673" y="1252121"/>
                </a:cubicBezTo>
                <a:close/>
                <a:moveTo>
                  <a:pt x="124233" y="771320"/>
                </a:moveTo>
                <a:cubicBezTo>
                  <a:pt x="124233" y="752272"/>
                  <a:pt x="124562" y="718739"/>
                  <a:pt x="125510" y="703425"/>
                </a:cubicBezTo>
                <a:moveTo>
                  <a:pt x="332180" y="504682"/>
                </a:moveTo>
                <a:lnTo>
                  <a:pt x="332180" y="540302"/>
                </a:lnTo>
                <a:moveTo>
                  <a:pt x="125510" y="703425"/>
                </a:moveTo>
                <a:cubicBezTo>
                  <a:pt x="128284" y="658625"/>
                  <a:pt x="141978" y="633300"/>
                  <a:pt x="162654" y="562730"/>
                </a:cubicBezTo>
                <a:moveTo>
                  <a:pt x="89698" y="739932"/>
                </a:moveTo>
                <a:cubicBezTo>
                  <a:pt x="89698" y="719812"/>
                  <a:pt x="113573" y="707211"/>
                  <a:pt x="125510" y="703425"/>
                </a:cubicBezTo>
              </a:path>
            </a:pathLst>
          </a:custGeom>
          <a:noFill/>
          <a:ln cap="flat" cmpd="sng" w="121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5" name="Google Shape;235;p22"/>
          <p:cNvSpPr/>
          <p:nvPr/>
        </p:nvSpPr>
        <p:spPr>
          <a:xfrm>
            <a:off x="4411384" y="1321454"/>
            <a:ext cx="683081" cy="611051"/>
          </a:xfrm>
          <a:custGeom>
            <a:rect b="b" l="l" r="r" t="t"/>
            <a:pathLst>
              <a:path extrusionOk="0" h="564625" w="570119">
                <a:moveTo>
                  <a:pt x="139552" y="194879"/>
                </a:moveTo>
                <a:cubicBezTo>
                  <a:pt x="107674" y="160155"/>
                  <a:pt x="100532" y="109358"/>
                  <a:pt x="121600" y="67189"/>
                </a:cubicBezTo>
                <a:lnTo>
                  <a:pt x="121600" y="67189"/>
                </a:lnTo>
                <a:cubicBezTo>
                  <a:pt x="137937" y="34521"/>
                  <a:pt x="168982" y="11698"/>
                  <a:pt x="205036" y="5849"/>
                </a:cubicBezTo>
                <a:cubicBezTo>
                  <a:pt x="241091" y="0"/>
                  <a:pt x="277759" y="11839"/>
                  <a:pt x="303586" y="37666"/>
                </a:cubicBezTo>
                <a:lnTo>
                  <a:pt x="334936" y="69016"/>
                </a:lnTo>
                <a:lnTo>
                  <a:pt x="366310" y="37666"/>
                </a:lnTo>
                <a:cubicBezTo>
                  <a:pt x="392133" y="11838"/>
                  <a:pt x="428798" y="0"/>
                  <a:pt x="464849" y="5849"/>
                </a:cubicBezTo>
                <a:cubicBezTo>
                  <a:pt x="500900" y="11698"/>
                  <a:pt x="531941" y="34522"/>
                  <a:pt x="548272" y="67189"/>
                </a:cubicBezTo>
                <a:lnTo>
                  <a:pt x="548272" y="67189"/>
                </a:lnTo>
                <a:cubicBezTo>
                  <a:pt x="570119" y="110935"/>
                  <a:pt x="561545" y="163750"/>
                  <a:pt x="526982" y="198338"/>
                </a:cubicBezTo>
                <a:lnTo>
                  <a:pt x="334936" y="398691"/>
                </a:lnTo>
                <a:lnTo>
                  <a:pt x="299810" y="362153"/>
                </a:lnTo>
                <a:moveTo>
                  <a:pt x="0" y="311291"/>
                </a:moveTo>
                <a:cubicBezTo>
                  <a:pt x="0" y="346269"/>
                  <a:pt x="56710" y="374625"/>
                  <a:pt x="126666" y="374625"/>
                </a:cubicBezTo>
                <a:cubicBezTo>
                  <a:pt x="196623" y="374625"/>
                  <a:pt x="253333" y="346269"/>
                  <a:pt x="253333" y="311291"/>
                </a:cubicBezTo>
                <a:cubicBezTo>
                  <a:pt x="253333" y="276313"/>
                  <a:pt x="196623" y="247958"/>
                  <a:pt x="126666" y="247958"/>
                </a:cubicBezTo>
                <a:cubicBezTo>
                  <a:pt x="56710" y="247958"/>
                  <a:pt x="0" y="276313"/>
                  <a:pt x="0" y="311291"/>
                </a:cubicBezTo>
                <a:moveTo>
                  <a:pt x="0" y="311291"/>
                </a:moveTo>
                <a:lnTo>
                  <a:pt x="0" y="501291"/>
                </a:lnTo>
                <a:cubicBezTo>
                  <a:pt x="0" y="536271"/>
                  <a:pt x="56707" y="564625"/>
                  <a:pt x="126666" y="564625"/>
                </a:cubicBezTo>
                <a:cubicBezTo>
                  <a:pt x="196625" y="564625"/>
                  <a:pt x="253333" y="536271"/>
                  <a:pt x="253333" y="501291"/>
                </a:cubicBezTo>
                <a:lnTo>
                  <a:pt x="253333" y="311291"/>
                </a:lnTo>
                <a:moveTo>
                  <a:pt x="253333" y="374625"/>
                </a:moveTo>
                <a:cubicBezTo>
                  <a:pt x="253333" y="409604"/>
                  <a:pt x="196625" y="437958"/>
                  <a:pt x="126666" y="437958"/>
                </a:cubicBezTo>
                <a:cubicBezTo>
                  <a:pt x="56707" y="437958"/>
                  <a:pt x="0" y="409604"/>
                  <a:pt x="0" y="374625"/>
                </a:cubicBezTo>
                <a:moveTo>
                  <a:pt x="253333" y="437958"/>
                </a:moveTo>
                <a:cubicBezTo>
                  <a:pt x="253333" y="472938"/>
                  <a:pt x="196625" y="501291"/>
                  <a:pt x="126666" y="501291"/>
                </a:cubicBezTo>
                <a:cubicBezTo>
                  <a:pt x="56707" y="501291"/>
                  <a:pt x="0" y="472938"/>
                  <a:pt x="0" y="437958"/>
                </a:cubicBezTo>
              </a:path>
            </a:pathLst>
          </a:custGeom>
          <a:noFill/>
          <a:ln cap="flat" cmpd="sng" w="121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6" name="Google Shape;236;p22"/>
          <p:cNvSpPr/>
          <p:nvPr/>
        </p:nvSpPr>
        <p:spPr>
          <a:xfrm>
            <a:off x="1433888" y="1480358"/>
            <a:ext cx="560257" cy="560257"/>
          </a:xfrm>
          <a:custGeom>
            <a:rect b="b" l="l" r="r" t="t"/>
            <a:pathLst>
              <a:path extrusionOk="0" h="560257" w="560257">
                <a:moveTo>
                  <a:pt x="0" y="194872"/>
                </a:moveTo>
                <a:cubicBezTo>
                  <a:pt x="0" y="302497"/>
                  <a:pt x="87247" y="389744"/>
                  <a:pt x="194872" y="389744"/>
                </a:cubicBezTo>
                <a:cubicBezTo>
                  <a:pt x="302497" y="389744"/>
                  <a:pt x="389744" y="302497"/>
                  <a:pt x="389744" y="194872"/>
                </a:cubicBezTo>
                <a:cubicBezTo>
                  <a:pt x="389744" y="87247"/>
                  <a:pt x="302497" y="0"/>
                  <a:pt x="194872" y="0"/>
                </a:cubicBezTo>
                <a:cubicBezTo>
                  <a:pt x="87247" y="0"/>
                  <a:pt x="0" y="87247"/>
                  <a:pt x="0" y="194872"/>
                </a:cubicBezTo>
                <a:close/>
                <a:moveTo>
                  <a:pt x="332914" y="332914"/>
                </a:moveTo>
                <a:lnTo>
                  <a:pt x="560257" y="560257"/>
                </a:lnTo>
                <a:moveTo>
                  <a:pt x="255769" y="255769"/>
                </a:moveTo>
                <a:lnTo>
                  <a:pt x="133974" y="133974"/>
                </a:lnTo>
                <a:moveTo>
                  <a:pt x="255769" y="133974"/>
                </a:moveTo>
                <a:lnTo>
                  <a:pt x="133974" y="255769"/>
                </a:lnTo>
              </a:path>
            </a:pathLst>
          </a:custGeom>
          <a:noFill/>
          <a:ln cap="flat" cmpd="sng" w="121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7" name="Google Shape;237;p22"/>
          <p:cNvSpPr/>
          <p:nvPr/>
        </p:nvSpPr>
        <p:spPr>
          <a:xfrm>
            <a:off x="7643834" y="1454338"/>
            <a:ext cx="560257" cy="560233"/>
          </a:xfrm>
          <a:custGeom>
            <a:rect b="b" l="l" r="r" t="t"/>
            <a:pathLst>
              <a:path extrusionOk="0" h="560233" w="560257">
                <a:moveTo>
                  <a:pt x="146154" y="450617"/>
                </a:moveTo>
                <a:cubicBezTo>
                  <a:pt x="146154" y="470797"/>
                  <a:pt x="162512" y="487155"/>
                  <a:pt x="182692" y="487155"/>
                </a:cubicBezTo>
                <a:cubicBezTo>
                  <a:pt x="202872" y="487155"/>
                  <a:pt x="219231" y="470797"/>
                  <a:pt x="219231" y="450617"/>
                </a:cubicBezTo>
                <a:cubicBezTo>
                  <a:pt x="219231" y="430437"/>
                  <a:pt x="202872" y="414078"/>
                  <a:pt x="182692" y="414078"/>
                </a:cubicBezTo>
                <a:cubicBezTo>
                  <a:pt x="162512" y="414078"/>
                  <a:pt x="146154" y="430437"/>
                  <a:pt x="146154" y="450617"/>
                </a:cubicBezTo>
                <a:close/>
                <a:moveTo>
                  <a:pt x="0" y="0"/>
                </a:moveTo>
                <a:lnTo>
                  <a:pt x="65964" y="0"/>
                </a:lnTo>
                <a:cubicBezTo>
                  <a:pt x="77264" y="4"/>
                  <a:pt x="87077" y="7780"/>
                  <a:pt x="89665" y="18780"/>
                </a:cubicBezTo>
                <a:lnTo>
                  <a:pt x="182692" y="414103"/>
                </a:lnTo>
                <a:lnTo>
                  <a:pt x="280128" y="414103"/>
                </a:lnTo>
                <a:moveTo>
                  <a:pt x="523329" y="256890"/>
                </a:moveTo>
                <a:lnTo>
                  <a:pt x="549563" y="178234"/>
                </a:lnTo>
                <a:cubicBezTo>
                  <a:pt x="552047" y="170803"/>
                  <a:pt x="550804" y="162629"/>
                  <a:pt x="546223" y="156272"/>
                </a:cubicBezTo>
                <a:cubicBezTo>
                  <a:pt x="541642" y="149915"/>
                  <a:pt x="534283" y="146149"/>
                  <a:pt x="526447" y="146154"/>
                </a:cubicBezTo>
                <a:lnTo>
                  <a:pt x="119651" y="146154"/>
                </a:lnTo>
                <a:moveTo>
                  <a:pt x="279519" y="341050"/>
                </a:moveTo>
                <a:lnTo>
                  <a:pt x="165495" y="341050"/>
                </a:lnTo>
                <a:moveTo>
                  <a:pt x="316667" y="438437"/>
                </a:moveTo>
                <a:cubicBezTo>
                  <a:pt x="316667" y="505703"/>
                  <a:pt x="371196" y="560233"/>
                  <a:pt x="438462" y="560233"/>
                </a:cubicBezTo>
                <a:cubicBezTo>
                  <a:pt x="505727" y="560233"/>
                  <a:pt x="560257" y="505703"/>
                  <a:pt x="560257" y="438437"/>
                </a:cubicBezTo>
                <a:cubicBezTo>
                  <a:pt x="560257" y="371172"/>
                  <a:pt x="505727" y="316642"/>
                  <a:pt x="438462" y="316642"/>
                </a:cubicBezTo>
                <a:cubicBezTo>
                  <a:pt x="371196" y="316642"/>
                  <a:pt x="316667" y="371172"/>
                  <a:pt x="316667" y="438437"/>
                </a:cubicBezTo>
                <a:close/>
                <a:moveTo>
                  <a:pt x="487180" y="401923"/>
                </a:moveTo>
                <a:lnTo>
                  <a:pt x="434637" y="475487"/>
                </a:lnTo>
                <a:cubicBezTo>
                  <a:pt x="432557" y="478398"/>
                  <a:pt x="429302" y="480246"/>
                  <a:pt x="425736" y="480541"/>
                </a:cubicBezTo>
                <a:cubicBezTo>
                  <a:pt x="422171" y="480837"/>
                  <a:pt x="418656" y="479550"/>
                  <a:pt x="416125" y="477022"/>
                </a:cubicBezTo>
                <a:lnTo>
                  <a:pt x="389744" y="450641"/>
                </a:lnTo>
              </a:path>
            </a:pathLst>
          </a:custGeom>
          <a:noFill/>
          <a:ln cap="flat" cmpd="sng" w="1217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8" name="Google Shape;238;p22"/>
          <p:cNvSpPr txBox="1"/>
          <p:nvPr/>
        </p:nvSpPr>
        <p:spPr>
          <a:xfrm>
            <a:off x="3918692" y="2063777"/>
            <a:ext cx="1666562" cy="49244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600" u="none" cap="none" strike="noStrike">
                <a:solidFill>
                  <a:srgbClr val="FFFFFF"/>
                </a:solidFill>
                <a:latin typeface="Roboto"/>
                <a:ea typeface="Roboto"/>
                <a:cs typeface="Roboto"/>
                <a:sym typeface="Roboto"/>
              </a:rPr>
              <a:t>Low Customer</a:t>
            </a:r>
            <a:br>
              <a:rPr b="1" i="0" lang="en-US" sz="1600" u="none" cap="none" strike="noStrike">
                <a:solidFill>
                  <a:srgbClr val="FFFFFF"/>
                </a:solidFill>
                <a:latin typeface="Roboto"/>
                <a:ea typeface="Roboto"/>
                <a:cs typeface="Roboto"/>
                <a:sym typeface="Roboto"/>
              </a:rPr>
            </a:br>
            <a:r>
              <a:rPr b="1" i="0" lang="en-US" sz="1600" u="none" cap="none" strike="noStrike">
                <a:solidFill>
                  <a:srgbClr val="FFFFFF"/>
                </a:solidFill>
                <a:latin typeface="Roboto"/>
                <a:ea typeface="Roboto"/>
                <a:cs typeface="Roboto"/>
                <a:sym typeface="Roboto"/>
              </a:rPr>
              <a:t>Lifetime Value</a:t>
            </a:r>
            <a:endParaRPr/>
          </a:p>
        </p:txBody>
      </p:sp>
      <p:sp>
        <p:nvSpPr>
          <p:cNvPr id="239" name="Google Shape;239;p22"/>
          <p:cNvSpPr txBox="1"/>
          <p:nvPr/>
        </p:nvSpPr>
        <p:spPr>
          <a:xfrm>
            <a:off x="1102399" y="2040615"/>
            <a:ext cx="1046761" cy="73866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600" u="none" cap="none" strike="noStrike">
                <a:solidFill>
                  <a:srgbClr val="FFFFFF"/>
                </a:solidFill>
                <a:latin typeface="Roboto"/>
                <a:ea typeface="Roboto"/>
                <a:cs typeface="Roboto"/>
                <a:sym typeface="Roboto"/>
              </a:rPr>
              <a:t>Low</a:t>
            </a:r>
            <a:br>
              <a:rPr b="1" i="0" lang="en-US" sz="1600" u="none" cap="none" strike="noStrike">
                <a:solidFill>
                  <a:srgbClr val="FFFFFF"/>
                </a:solidFill>
                <a:latin typeface="Roboto"/>
                <a:ea typeface="Roboto"/>
                <a:cs typeface="Roboto"/>
                <a:sym typeface="Roboto"/>
              </a:rPr>
            </a:br>
            <a:r>
              <a:rPr b="1" i="0" lang="en-US" sz="1600" u="none" cap="none" strike="noStrike">
                <a:solidFill>
                  <a:srgbClr val="FFFFFF"/>
                </a:solidFill>
                <a:latin typeface="Roboto"/>
                <a:ea typeface="Roboto"/>
                <a:cs typeface="Roboto"/>
                <a:sym typeface="Roboto"/>
              </a:rPr>
              <a:t>Conversion</a:t>
            </a:r>
            <a:br>
              <a:rPr b="1" i="0" lang="en-US" sz="1600" u="none" cap="none" strike="noStrike">
                <a:solidFill>
                  <a:srgbClr val="FFFFFF"/>
                </a:solidFill>
                <a:latin typeface="Roboto"/>
                <a:ea typeface="Roboto"/>
                <a:cs typeface="Roboto"/>
                <a:sym typeface="Roboto"/>
              </a:rPr>
            </a:br>
            <a:r>
              <a:rPr b="1" i="0" lang="en-US" sz="1600" u="none" cap="none" strike="noStrike">
                <a:solidFill>
                  <a:srgbClr val="FFFFFF"/>
                </a:solidFill>
                <a:latin typeface="Roboto"/>
                <a:ea typeface="Roboto"/>
                <a:cs typeface="Roboto"/>
                <a:sym typeface="Roboto"/>
              </a:rPr>
              <a:t>Rate</a:t>
            </a:r>
            <a:endParaRPr/>
          </a:p>
        </p:txBody>
      </p:sp>
      <p:sp>
        <p:nvSpPr>
          <p:cNvPr id="240" name="Google Shape;240;p22"/>
          <p:cNvSpPr txBox="1"/>
          <p:nvPr/>
        </p:nvSpPr>
        <p:spPr>
          <a:xfrm>
            <a:off x="3682318" y="2721176"/>
            <a:ext cx="2139309" cy="123110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600" u="none" cap="none" strike="noStrike">
                <a:solidFill>
                  <a:srgbClr val="FFFFFF"/>
                </a:solidFill>
                <a:latin typeface="Roboto"/>
                <a:ea typeface="Roboto"/>
                <a:cs typeface="Roboto"/>
                <a:sym typeface="Roboto"/>
              </a:rPr>
              <a:t>Build loyalty through</a:t>
            </a:r>
            <a:br>
              <a:rPr b="0" i="0" lang="en-US" sz="1600" u="none" cap="none" strike="noStrike">
                <a:solidFill>
                  <a:srgbClr val="FFFFFF"/>
                </a:solidFill>
                <a:latin typeface="Roboto"/>
                <a:ea typeface="Roboto"/>
                <a:cs typeface="Roboto"/>
                <a:sym typeface="Roboto"/>
              </a:rPr>
            </a:br>
            <a:r>
              <a:rPr b="0" i="0" lang="en-US" sz="1600" u="none" cap="none" strike="noStrike">
                <a:solidFill>
                  <a:srgbClr val="FFFFFF"/>
                </a:solidFill>
                <a:latin typeface="Roboto"/>
                <a:ea typeface="Roboto"/>
                <a:cs typeface="Roboto"/>
                <a:sym typeface="Roboto"/>
              </a:rPr>
              <a:t>post-purchase</a:t>
            </a:r>
            <a:br>
              <a:rPr b="0" i="0" lang="en-US" sz="1600" u="none" cap="none" strike="noStrike">
                <a:solidFill>
                  <a:srgbClr val="FFFFFF"/>
                </a:solidFill>
                <a:latin typeface="Roboto"/>
                <a:ea typeface="Roboto"/>
                <a:cs typeface="Roboto"/>
                <a:sym typeface="Roboto"/>
              </a:rPr>
            </a:br>
            <a:r>
              <a:rPr b="0" i="0" lang="en-US" sz="1600" u="none" cap="none" strike="noStrike">
                <a:solidFill>
                  <a:srgbClr val="FFFFFF"/>
                </a:solidFill>
                <a:latin typeface="Roboto"/>
                <a:ea typeface="Roboto"/>
                <a:cs typeface="Roboto"/>
                <a:sym typeface="Roboto"/>
              </a:rPr>
              <a:t>emails, loyalty</a:t>
            </a:r>
            <a:br>
              <a:rPr b="0" i="0" lang="en-US" sz="1600" u="none" cap="none" strike="noStrike">
                <a:solidFill>
                  <a:srgbClr val="FFFFFF"/>
                </a:solidFill>
                <a:latin typeface="Roboto"/>
                <a:ea typeface="Roboto"/>
                <a:cs typeface="Roboto"/>
                <a:sym typeface="Roboto"/>
              </a:rPr>
            </a:br>
            <a:r>
              <a:rPr b="0" i="0" lang="en-US" sz="1600" u="none" cap="none" strike="noStrike">
                <a:solidFill>
                  <a:srgbClr val="FFFFFF"/>
                </a:solidFill>
                <a:latin typeface="Roboto"/>
                <a:ea typeface="Roboto"/>
                <a:cs typeface="Roboto"/>
                <a:sym typeface="Roboto"/>
              </a:rPr>
              <a:t>programs, and VIP</a:t>
            </a:r>
            <a:br>
              <a:rPr b="0" i="0" lang="en-US" sz="1600" u="none" cap="none" strike="noStrike">
                <a:solidFill>
                  <a:srgbClr val="FFFFFF"/>
                </a:solidFill>
                <a:latin typeface="Roboto"/>
                <a:ea typeface="Roboto"/>
                <a:cs typeface="Roboto"/>
                <a:sym typeface="Roboto"/>
              </a:rPr>
            </a:br>
            <a:r>
              <a:rPr b="0" i="0" lang="en-US" sz="1600" u="none" cap="none" strike="noStrike">
                <a:solidFill>
                  <a:srgbClr val="FFFFFF"/>
                </a:solidFill>
                <a:latin typeface="Roboto"/>
                <a:ea typeface="Roboto"/>
                <a:cs typeface="Roboto"/>
                <a:sym typeface="Roboto"/>
              </a:rPr>
              <a:t>support.</a:t>
            </a:r>
            <a:endParaRPr/>
          </a:p>
        </p:txBody>
      </p:sp>
      <p:sp>
        <p:nvSpPr>
          <p:cNvPr id="241" name="Google Shape;241;p22"/>
          <p:cNvSpPr txBox="1"/>
          <p:nvPr/>
        </p:nvSpPr>
        <p:spPr>
          <a:xfrm>
            <a:off x="7334376" y="2163725"/>
            <a:ext cx="1262063" cy="49244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600" u="none" cap="none" strike="noStrike">
                <a:solidFill>
                  <a:srgbClr val="FFFFFF"/>
                </a:solidFill>
                <a:latin typeface="Roboto"/>
                <a:ea typeface="Roboto"/>
                <a:cs typeface="Roboto"/>
                <a:sym typeface="Roboto"/>
              </a:rPr>
              <a:t>Low Average</a:t>
            </a:r>
            <a:br>
              <a:rPr b="1" i="0" lang="en-US" sz="1600" u="none" cap="none" strike="noStrike">
                <a:solidFill>
                  <a:srgbClr val="FFFFFF"/>
                </a:solidFill>
                <a:latin typeface="Roboto"/>
                <a:ea typeface="Roboto"/>
                <a:cs typeface="Roboto"/>
                <a:sym typeface="Roboto"/>
              </a:rPr>
            </a:br>
            <a:r>
              <a:rPr b="1" i="0" lang="en-US" sz="1600" u="none" cap="none" strike="noStrike">
                <a:solidFill>
                  <a:srgbClr val="FFFFFF"/>
                </a:solidFill>
                <a:latin typeface="Roboto"/>
                <a:ea typeface="Roboto"/>
                <a:cs typeface="Roboto"/>
                <a:sym typeface="Roboto"/>
              </a:rPr>
              <a:t>Order Value</a:t>
            </a:r>
            <a:endParaRPr/>
          </a:p>
        </p:txBody>
      </p:sp>
      <p:sp>
        <p:nvSpPr>
          <p:cNvPr id="242" name="Google Shape;242;p22"/>
          <p:cNvSpPr txBox="1"/>
          <p:nvPr/>
        </p:nvSpPr>
        <p:spPr>
          <a:xfrm>
            <a:off x="697617" y="2901111"/>
            <a:ext cx="1949253" cy="123110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600" u="none" cap="none" strike="noStrike">
                <a:solidFill>
                  <a:srgbClr val="FFFFFF"/>
                </a:solidFill>
                <a:latin typeface="Roboto"/>
                <a:ea typeface="Roboto"/>
                <a:cs typeface="Roboto"/>
                <a:sym typeface="Roboto"/>
              </a:rPr>
              <a:t>Focus on simplifying</a:t>
            </a:r>
            <a:br>
              <a:rPr b="0" i="0" lang="en-US" sz="1600" u="none" cap="none" strike="noStrike">
                <a:solidFill>
                  <a:srgbClr val="FFFFFF"/>
                </a:solidFill>
                <a:latin typeface="Roboto"/>
                <a:ea typeface="Roboto"/>
                <a:cs typeface="Roboto"/>
                <a:sym typeface="Roboto"/>
              </a:rPr>
            </a:br>
            <a:r>
              <a:rPr b="0" i="0" lang="en-US" sz="1600" u="none" cap="none" strike="noStrike">
                <a:solidFill>
                  <a:srgbClr val="FFFFFF"/>
                </a:solidFill>
                <a:latin typeface="Roboto"/>
                <a:ea typeface="Roboto"/>
                <a:cs typeface="Roboto"/>
                <a:sym typeface="Roboto"/>
              </a:rPr>
              <a:t>design, improving</a:t>
            </a:r>
            <a:br>
              <a:rPr b="0" i="0" lang="en-US" sz="1600" u="none" cap="none" strike="noStrike">
                <a:solidFill>
                  <a:srgbClr val="FFFFFF"/>
                </a:solidFill>
                <a:latin typeface="Roboto"/>
                <a:ea typeface="Roboto"/>
                <a:cs typeface="Roboto"/>
                <a:sym typeface="Roboto"/>
              </a:rPr>
            </a:br>
            <a:r>
              <a:rPr b="0" i="0" lang="en-US" sz="1600" u="none" cap="none" strike="noStrike">
                <a:solidFill>
                  <a:srgbClr val="FFFFFF"/>
                </a:solidFill>
                <a:latin typeface="Roboto"/>
                <a:ea typeface="Roboto"/>
                <a:cs typeface="Roboto"/>
                <a:sym typeface="Roboto"/>
              </a:rPr>
              <a:t>mobile response, and</a:t>
            </a:r>
            <a:br>
              <a:rPr b="0" i="0" lang="en-US" sz="1600" u="none" cap="none" strike="noStrike">
                <a:solidFill>
                  <a:srgbClr val="FFFFFF"/>
                </a:solidFill>
                <a:latin typeface="Roboto"/>
                <a:ea typeface="Roboto"/>
                <a:cs typeface="Roboto"/>
                <a:sym typeface="Roboto"/>
              </a:rPr>
            </a:br>
            <a:r>
              <a:rPr b="0" i="0" lang="en-US" sz="1600" u="none" cap="none" strike="noStrike">
                <a:solidFill>
                  <a:srgbClr val="FFFFFF"/>
                </a:solidFill>
                <a:latin typeface="Roboto"/>
                <a:ea typeface="Roboto"/>
                <a:cs typeface="Roboto"/>
                <a:sym typeface="Roboto"/>
              </a:rPr>
              <a:t>clarifying USP to</a:t>
            </a:r>
            <a:br>
              <a:rPr b="0" i="0" lang="en-US" sz="1600" u="none" cap="none" strike="noStrike">
                <a:solidFill>
                  <a:srgbClr val="FFFFFF"/>
                </a:solidFill>
                <a:latin typeface="Roboto"/>
                <a:ea typeface="Roboto"/>
                <a:cs typeface="Roboto"/>
                <a:sym typeface="Roboto"/>
              </a:rPr>
            </a:br>
            <a:r>
              <a:rPr b="0" i="0" lang="en-US" sz="1600" u="none" cap="none" strike="noStrike">
                <a:solidFill>
                  <a:srgbClr val="FFFFFF"/>
                </a:solidFill>
                <a:latin typeface="Roboto"/>
                <a:ea typeface="Roboto"/>
                <a:cs typeface="Roboto"/>
                <a:sym typeface="Roboto"/>
              </a:rPr>
              <a:t>encourage checkout.</a:t>
            </a:r>
            <a:endParaRPr/>
          </a:p>
        </p:txBody>
      </p:sp>
      <p:sp>
        <p:nvSpPr>
          <p:cNvPr id="243" name="Google Shape;243;p22"/>
          <p:cNvSpPr txBox="1"/>
          <p:nvPr/>
        </p:nvSpPr>
        <p:spPr>
          <a:xfrm>
            <a:off x="7066526" y="2790636"/>
            <a:ext cx="1797761" cy="98488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600" u="none" cap="none" strike="noStrike">
                <a:solidFill>
                  <a:srgbClr val="FFFFFF"/>
                </a:solidFill>
                <a:latin typeface="Roboto"/>
                <a:ea typeface="Roboto"/>
                <a:cs typeface="Roboto"/>
                <a:sym typeface="Roboto"/>
              </a:rPr>
              <a:t>Improve offers with</a:t>
            </a:r>
            <a:br>
              <a:rPr b="0" i="0" lang="en-US" sz="1600" u="none" cap="none" strike="noStrike">
                <a:solidFill>
                  <a:srgbClr val="FFFFFF"/>
                </a:solidFill>
                <a:latin typeface="Roboto"/>
                <a:ea typeface="Roboto"/>
                <a:cs typeface="Roboto"/>
                <a:sym typeface="Roboto"/>
              </a:rPr>
            </a:br>
            <a:r>
              <a:rPr b="0" i="0" lang="en-US" sz="1600" u="none" cap="none" strike="noStrike">
                <a:solidFill>
                  <a:srgbClr val="FFFFFF"/>
                </a:solidFill>
                <a:latin typeface="Roboto"/>
                <a:ea typeface="Roboto"/>
                <a:cs typeface="Roboto"/>
                <a:sym typeface="Roboto"/>
              </a:rPr>
              <a:t>product bundles,</a:t>
            </a:r>
            <a:br>
              <a:rPr b="0" i="0" lang="en-US" sz="1600" u="none" cap="none" strike="noStrike">
                <a:solidFill>
                  <a:srgbClr val="FFFFFF"/>
                </a:solidFill>
                <a:latin typeface="Roboto"/>
                <a:ea typeface="Roboto"/>
                <a:cs typeface="Roboto"/>
                <a:sym typeface="Roboto"/>
              </a:rPr>
            </a:br>
            <a:r>
              <a:rPr b="0" i="0" lang="en-US" sz="1600" u="none" cap="none" strike="noStrike">
                <a:solidFill>
                  <a:srgbClr val="FFFFFF"/>
                </a:solidFill>
                <a:latin typeface="Roboto"/>
                <a:ea typeface="Roboto"/>
                <a:cs typeface="Roboto"/>
                <a:sym typeface="Roboto"/>
              </a:rPr>
              <a:t>upsells, or tiered</a:t>
            </a:r>
            <a:br>
              <a:rPr b="0" i="0" lang="en-US" sz="1600" u="none" cap="none" strike="noStrike">
                <a:solidFill>
                  <a:srgbClr val="FFFFFF"/>
                </a:solidFill>
                <a:latin typeface="Roboto"/>
                <a:ea typeface="Roboto"/>
                <a:cs typeface="Roboto"/>
                <a:sym typeface="Roboto"/>
              </a:rPr>
            </a:br>
            <a:r>
              <a:rPr b="0" i="0" lang="en-US" sz="1600" u="none" cap="none" strike="noStrike">
                <a:solidFill>
                  <a:srgbClr val="FFFFFF"/>
                </a:solidFill>
                <a:latin typeface="Roboto"/>
                <a:ea typeface="Roboto"/>
                <a:cs typeface="Roboto"/>
                <a:sym typeface="Roboto"/>
              </a:rPr>
              <a:t>shipping.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247" name="Shape 247"/>
        <p:cNvGrpSpPr/>
        <p:nvPr/>
      </p:nvGrpSpPr>
      <p:grpSpPr>
        <a:xfrm>
          <a:off x="0" y="0"/>
          <a:ext cx="0" cy="0"/>
          <a:chOff x="0" y="0"/>
          <a:chExt cx="0" cy="0"/>
        </a:xfrm>
      </p:grpSpPr>
      <p:pic>
        <p:nvPicPr>
          <p:cNvPr descr="image.png" id="248" name="Google Shape;248;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9" name="Google Shape;249;p23"/>
          <p:cNvSpPr txBox="1"/>
          <p:nvPr/>
        </p:nvSpPr>
        <p:spPr>
          <a:xfrm>
            <a:off x="771525" y="766316"/>
            <a:ext cx="4990623" cy="52387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rgbClr val="FFFFFF"/>
                </a:solidFill>
                <a:latin typeface="Merriweather"/>
                <a:ea typeface="Merriweather"/>
                <a:cs typeface="Merriweather"/>
                <a:sym typeface="Merriweather"/>
              </a:rPr>
              <a:t>Module Summary</a:t>
            </a:r>
            <a:endParaRPr b="0" i="0" sz="1400" u="none" cap="none" strike="noStrike">
              <a:solidFill>
                <a:srgbClr val="000000"/>
              </a:solidFill>
              <a:latin typeface="Arial"/>
              <a:ea typeface="Arial"/>
              <a:cs typeface="Arial"/>
              <a:sym typeface="Arial"/>
            </a:endParaRPr>
          </a:p>
        </p:txBody>
      </p:sp>
      <p:sp>
        <p:nvSpPr>
          <p:cNvPr id="250" name="Google Shape;250;p23"/>
          <p:cNvSpPr/>
          <p:nvPr/>
        </p:nvSpPr>
        <p:spPr>
          <a:xfrm>
            <a:off x="581025" y="766316"/>
            <a:ext cx="57150" cy="5238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1" name="Google Shape;251;p23"/>
          <p:cNvSpPr txBox="1"/>
          <p:nvPr/>
        </p:nvSpPr>
        <p:spPr>
          <a:xfrm>
            <a:off x="581025" y="5312717"/>
            <a:ext cx="4943475" cy="731341"/>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Clr>
                <a:srgbClr val="000000"/>
              </a:buClr>
              <a:buSzPts val="1800"/>
              <a:buFont typeface="Arial"/>
              <a:buNone/>
            </a:pPr>
            <a:r>
              <a:rPr b="1" i="0" lang="en-US" sz="1800" u="none" cap="none" strike="noStrike">
                <a:solidFill>
                  <a:srgbClr val="38BDF8"/>
                </a:solidFill>
                <a:latin typeface="Open Sans"/>
                <a:ea typeface="Open Sans"/>
                <a:cs typeface="Open Sans"/>
                <a:sym typeface="Open Sans"/>
              </a:rPr>
              <a:t>Stop feeling 'busy' and start feeling 'profitable.'</a:t>
            </a:r>
            <a:endParaRPr b="0" i="0" sz="1400" u="none" cap="none" strike="noStrike">
              <a:solidFill>
                <a:srgbClr val="000000"/>
              </a:solidFill>
              <a:latin typeface="Arial"/>
              <a:ea typeface="Arial"/>
              <a:cs typeface="Arial"/>
              <a:sym typeface="Arial"/>
            </a:endParaRPr>
          </a:p>
        </p:txBody>
      </p:sp>
      <p:sp>
        <p:nvSpPr>
          <p:cNvPr id="252" name="Google Shape;252;p23"/>
          <p:cNvSpPr txBox="1"/>
          <p:nvPr/>
        </p:nvSpPr>
        <p:spPr>
          <a:xfrm>
            <a:off x="1104900" y="1623566"/>
            <a:ext cx="441960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650"/>
              <a:buFont typeface="Arial"/>
              <a:buNone/>
            </a:pPr>
            <a:r>
              <a:rPr b="1" i="0" lang="en-US" sz="1650" u="none" cap="none" strike="noStrike">
                <a:solidFill>
                  <a:srgbClr val="94A3B8"/>
                </a:solidFill>
                <a:latin typeface="Open Sans"/>
                <a:ea typeface="Open Sans"/>
                <a:cs typeface="Open Sans"/>
                <a:sym typeface="Open Sans"/>
              </a:rPr>
              <a:t>CR = effectiveness</a:t>
            </a:r>
            <a:r>
              <a:rPr b="0" i="0" lang="en-US" sz="1650" u="none" cap="none" strike="noStrike">
                <a:solidFill>
                  <a:srgbClr val="94A3B8"/>
                </a:solidFill>
                <a:latin typeface="Open Sans"/>
                <a:ea typeface="Open Sans"/>
                <a:cs typeface="Open Sans"/>
                <a:sym typeface="Open Sans"/>
              </a:rPr>
              <a:t> → Are my business’s websites or ads effective?</a:t>
            </a:r>
            <a:endParaRPr b="0" i="0" sz="1400" u="none" cap="none" strike="noStrike">
              <a:solidFill>
                <a:srgbClr val="000000"/>
              </a:solidFill>
              <a:latin typeface="Arial"/>
              <a:ea typeface="Arial"/>
              <a:cs typeface="Arial"/>
              <a:sym typeface="Arial"/>
            </a:endParaRPr>
          </a:p>
        </p:txBody>
      </p:sp>
      <p:sp>
        <p:nvSpPr>
          <p:cNvPr id="253" name="Google Shape;253;p23"/>
          <p:cNvSpPr txBox="1"/>
          <p:nvPr/>
        </p:nvSpPr>
        <p:spPr>
          <a:xfrm>
            <a:off x="1104900" y="2532012"/>
            <a:ext cx="441960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650"/>
              <a:buFont typeface="Arial"/>
              <a:buNone/>
            </a:pPr>
            <a:r>
              <a:rPr b="1" i="0" lang="en-US" sz="1650" u="none" cap="none" strike="noStrike">
                <a:solidFill>
                  <a:srgbClr val="94A3B8"/>
                </a:solidFill>
                <a:latin typeface="Open Sans"/>
                <a:ea typeface="Open Sans"/>
                <a:cs typeface="Open Sans"/>
                <a:sym typeface="Open Sans"/>
              </a:rPr>
              <a:t>AOV = value per order</a:t>
            </a:r>
            <a:r>
              <a:rPr b="0" i="0" lang="en-US" sz="1650" u="none" cap="none" strike="noStrike">
                <a:solidFill>
                  <a:srgbClr val="94A3B8"/>
                </a:solidFill>
                <a:latin typeface="Open Sans"/>
                <a:ea typeface="Open Sans"/>
                <a:cs typeface="Open Sans"/>
                <a:sym typeface="Open Sans"/>
              </a:rPr>
              <a:t> → How do I maximize the sales for my business?</a:t>
            </a:r>
            <a:endParaRPr b="0" i="0" sz="1400" u="none" cap="none" strike="noStrike">
              <a:solidFill>
                <a:srgbClr val="000000"/>
              </a:solidFill>
              <a:latin typeface="Arial"/>
              <a:ea typeface="Arial"/>
              <a:cs typeface="Arial"/>
              <a:sym typeface="Arial"/>
            </a:endParaRPr>
          </a:p>
        </p:txBody>
      </p:sp>
      <p:sp>
        <p:nvSpPr>
          <p:cNvPr id="254" name="Google Shape;254;p23"/>
          <p:cNvSpPr txBox="1"/>
          <p:nvPr/>
        </p:nvSpPr>
        <p:spPr>
          <a:xfrm>
            <a:off x="1104900" y="3440459"/>
            <a:ext cx="441960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650"/>
              <a:buFont typeface="Arial"/>
              <a:buNone/>
            </a:pPr>
            <a:r>
              <a:rPr b="1" i="0" lang="en-US" sz="1650" u="none" cap="none" strike="noStrike">
                <a:solidFill>
                  <a:srgbClr val="94A3B8"/>
                </a:solidFill>
                <a:latin typeface="Open Sans"/>
                <a:ea typeface="Open Sans"/>
                <a:cs typeface="Open Sans"/>
                <a:sym typeface="Open Sans"/>
              </a:rPr>
              <a:t>CLV = value over time</a:t>
            </a:r>
            <a:r>
              <a:rPr b="0" i="0" lang="en-US" sz="1650" u="none" cap="none" strike="noStrike">
                <a:solidFill>
                  <a:srgbClr val="94A3B8"/>
                </a:solidFill>
                <a:latin typeface="Open Sans"/>
                <a:ea typeface="Open Sans"/>
                <a:cs typeface="Open Sans"/>
                <a:sym typeface="Open Sans"/>
              </a:rPr>
              <a:t> → Does my business have a future?</a:t>
            </a:r>
            <a:endParaRPr b="0" i="0" sz="1400" u="none" cap="none" strike="noStrike">
              <a:solidFill>
                <a:srgbClr val="000000"/>
              </a:solidFill>
              <a:latin typeface="Arial"/>
              <a:ea typeface="Arial"/>
              <a:cs typeface="Arial"/>
              <a:sym typeface="Arial"/>
            </a:endParaRPr>
          </a:p>
        </p:txBody>
      </p:sp>
      <p:sp>
        <p:nvSpPr>
          <p:cNvPr id="255" name="Google Shape;255;p23"/>
          <p:cNvSpPr txBox="1"/>
          <p:nvPr/>
        </p:nvSpPr>
        <p:spPr>
          <a:xfrm>
            <a:off x="1104900" y="4587031"/>
            <a:ext cx="4419600" cy="344685"/>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650"/>
              <a:buFont typeface="Arial"/>
              <a:buNone/>
            </a:pPr>
            <a:r>
              <a:rPr b="1" i="0" lang="en-US" sz="1650" u="none" cap="none" strike="noStrike">
                <a:solidFill>
                  <a:srgbClr val="94A3B8"/>
                </a:solidFill>
                <a:latin typeface="Open Sans"/>
                <a:ea typeface="Open Sans"/>
                <a:cs typeface="Open Sans"/>
                <a:sym typeface="Open Sans"/>
              </a:rPr>
              <a:t>Together</a:t>
            </a:r>
            <a:r>
              <a:rPr b="0" i="0" lang="en-US" sz="1650" u="none" cap="none" strike="noStrike">
                <a:solidFill>
                  <a:srgbClr val="94A3B8"/>
                </a:solidFill>
                <a:latin typeface="Open Sans"/>
                <a:ea typeface="Open Sans"/>
                <a:cs typeface="Open Sans"/>
                <a:sym typeface="Open Sans"/>
              </a:rPr>
              <a:t> → business profitability</a:t>
            </a:r>
            <a:endParaRPr b="0" i="0" sz="1400" u="none" cap="none" strike="noStrike">
              <a:solidFill>
                <a:srgbClr val="000000"/>
              </a:solidFill>
              <a:latin typeface="Arial"/>
              <a:ea typeface="Arial"/>
              <a:cs typeface="Arial"/>
              <a:sym typeface="Arial"/>
            </a:endParaRPr>
          </a:p>
        </p:txBody>
      </p:sp>
      <p:sp>
        <p:nvSpPr>
          <p:cNvPr id="256" name="Google Shape;256;p23"/>
          <p:cNvSpPr/>
          <p:nvPr/>
        </p:nvSpPr>
        <p:spPr>
          <a:xfrm>
            <a:off x="581025" y="4396531"/>
            <a:ext cx="4943475"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image.png" id="257" name="Google Shape;257;p23"/>
          <p:cNvPicPr preferRelativeResize="0"/>
          <p:nvPr/>
        </p:nvPicPr>
        <p:blipFill rotWithShape="1">
          <a:blip r:embed="rId4">
            <a:alphaModFix/>
          </a:blip>
          <a:srcRect b="0" l="0" r="0" t="0"/>
          <a:stretch/>
        </p:blipFill>
        <p:spPr>
          <a:xfrm>
            <a:off x="581025" y="1618803"/>
            <a:ext cx="285750" cy="295275"/>
          </a:xfrm>
          <a:prstGeom prst="rect">
            <a:avLst/>
          </a:prstGeom>
          <a:noFill/>
          <a:ln>
            <a:noFill/>
          </a:ln>
        </p:spPr>
      </p:pic>
      <p:pic>
        <p:nvPicPr>
          <p:cNvPr descr="image.png" id="258" name="Google Shape;258;p23"/>
          <p:cNvPicPr preferRelativeResize="0"/>
          <p:nvPr/>
        </p:nvPicPr>
        <p:blipFill rotWithShape="1">
          <a:blip r:embed="rId4">
            <a:alphaModFix/>
          </a:blip>
          <a:srcRect b="0" l="0" r="0" t="0"/>
          <a:stretch/>
        </p:blipFill>
        <p:spPr>
          <a:xfrm>
            <a:off x="581025" y="2527250"/>
            <a:ext cx="285750" cy="295275"/>
          </a:xfrm>
          <a:prstGeom prst="rect">
            <a:avLst/>
          </a:prstGeom>
          <a:noFill/>
          <a:ln>
            <a:noFill/>
          </a:ln>
        </p:spPr>
      </p:pic>
      <p:pic>
        <p:nvPicPr>
          <p:cNvPr descr="image.png" id="259" name="Google Shape;259;p23"/>
          <p:cNvPicPr preferRelativeResize="0"/>
          <p:nvPr/>
        </p:nvPicPr>
        <p:blipFill rotWithShape="1">
          <a:blip r:embed="rId4">
            <a:alphaModFix/>
          </a:blip>
          <a:srcRect b="0" l="0" r="0" t="0"/>
          <a:stretch/>
        </p:blipFill>
        <p:spPr>
          <a:xfrm>
            <a:off x="581025" y="3435697"/>
            <a:ext cx="285750" cy="295275"/>
          </a:xfrm>
          <a:prstGeom prst="rect">
            <a:avLst/>
          </a:prstGeom>
          <a:noFill/>
          <a:ln>
            <a:noFill/>
          </a:ln>
        </p:spPr>
      </p:pic>
      <p:pic>
        <p:nvPicPr>
          <p:cNvPr descr="image.png" id="260" name="Google Shape;260;p23"/>
          <p:cNvPicPr preferRelativeResize="0"/>
          <p:nvPr/>
        </p:nvPicPr>
        <p:blipFill rotWithShape="1">
          <a:blip r:embed="rId5">
            <a:alphaModFix/>
          </a:blip>
          <a:srcRect b="0" l="0" r="0" t="0"/>
          <a:stretch/>
        </p:blipFill>
        <p:spPr>
          <a:xfrm>
            <a:off x="581025" y="4401294"/>
            <a:ext cx="247650" cy="295275"/>
          </a:xfrm>
          <a:prstGeom prst="rect">
            <a:avLst/>
          </a:prstGeom>
          <a:noFill/>
          <a:ln>
            <a:noFill/>
          </a:ln>
        </p:spPr>
      </p:pic>
      <p:sp>
        <p:nvSpPr>
          <p:cNvPr id="261" name="Google Shape;261;p23"/>
          <p:cNvSpPr txBox="1"/>
          <p:nvPr/>
        </p:nvSpPr>
        <p:spPr>
          <a:xfrm>
            <a:off x="8363825" y="6448309"/>
            <a:ext cx="3133800" cy="138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975"/>
              <a:buFont typeface="Arial"/>
              <a:buNone/>
            </a:pPr>
            <a:r>
              <a:rPr b="0" i="1" lang="en-US" sz="900" u="none" cap="none" strike="noStrike">
                <a:solidFill>
                  <a:srgbClr val="7F7F7F"/>
                </a:solidFill>
                <a:latin typeface="Open Sans"/>
                <a:ea typeface="Open Sans"/>
                <a:cs typeface="Open Sans"/>
                <a:sym typeface="Open Sans"/>
              </a:rPr>
              <a:t> Hassarath, A. (2025). Shopify’s Analytics: Data to Dollars. </a:t>
            </a:r>
            <a:endParaRPr b="0" i="0" sz="900" u="none" cap="none" strike="noStrike">
              <a:solidFill>
                <a:srgbClr val="7F7F7F"/>
              </a:solidFill>
              <a:latin typeface="Arial"/>
              <a:ea typeface="Arial"/>
              <a:cs typeface="Arial"/>
              <a:sym typeface="Arial"/>
            </a:endParaRPr>
          </a:p>
        </p:txBody>
      </p:sp>
      <p:pic>
        <p:nvPicPr>
          <p:cNvPr id="262" name="Google Shape;262;p23"/>
          <p:cNvPicPr preferRelativeResize="0"/>
          <p:nvPr/>
        </p:nvPicPr>
        <p:blipFill rotWithShape="1">
          <a:blip r:embed="rId6">
            <a:alphaModFix/>
          </a:blip>
          <a:srcRect b="0" l="0" r="0" t="0"/>
          <a:stretch/>
        </p:blipFill>
        <p:spPr>
          <a:xfrm>
            <a:off x="5895498" y="531085"/>
            <a:ext cx="6119776" cy="545203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